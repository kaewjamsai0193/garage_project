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D425E-6C03-41BC-9255-95CE6F4CD3F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D5767-884B-48F4-9EA2-88455F2A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77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แนะนำตัว แล้วบอกสั้น ๆ ว่าวันนี้จะเล่าระบบที่ใช้ในอู่ซ่อมรถหนึ่งสาขา ตั้งแต่รับรถจนรับเงิน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44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เล่าปัญหาสามข้อจากการจดกระดาษ ข้อที่สำคัญที่สุดคือไม่รู้กำไรจริง เพราะอะไหล่ตัวเดียวกันซื้อมาคนละราคา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79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อ่านห้าข้อ แล้วบอกว่าข้อ 2 กับข้อ 4 คือส่วนที่จะเล่าละเอียดในช่วงจุดเด่น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3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เล่าว่าระบบครอบคลุมงานไหนบ้าง ตั้งแต่รับรถ งานซ่อม คลัง ไปจนถึงตามลูกค้าและภาษี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6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สี่ข้อนี้ตรงกับปัญหาในสไลด์ที่มา ข้อแรกกับข้อสองแก้เรื่องกำไรและสต็อก ข้อสามช่วยตอนยื่นภาษี ข้อสี่ช่วยให้ลูกค้ากลับมา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12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หน้าเว็บทำด้วย </a:t>
            </a:r>
            <a:r>
              <a:rPr lang="en-US"/>
              <a:t>React </a:t>
            </a:r>
            <a:r>
              <a:rPr lang="th-TH"/>
              <a:t>คุยกับหลังบ้าน </a:t>
            </a:r>
            <a:r>
              <a:rPr lang="en-US"/>
              <a:t>FastAPI </a:t>
            </a:r>
            <a:r>
              <a:rPr lang="th-TH"/>
              <a:t>ผ่าน </a:t>
            </a:r>
            <a:r>
              <a:rPr lang="en-US"/>
              <a:t>API </a:t>
            </a:r>
            <a:r>
              <a:rPr lang="th-TH"/>
              <a:t>หลังบ้านเป็นที่เดียวที่อ่านเขียนฐานข้อมูล </a:t>
            </a:r>
            <a:r>
              <a:rPr lang="en-US"/>
              <a:t>PostgreSQL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47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อ่านจากซ้ายไปขวา เจ้าของอู่ พนักงาน ช่าง ใช้เว็บเดียวกันแต่ทำได้ไม่เท่ากัน ทุกคำขอผ่านหลังบ้านสามชั้น ลูกค้ากับร้านอะไหล่ไม่ได้ล็อกอิน ได้แค่กระดาษที่พิมพ์ออกไป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82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เน้นข้อ 4 ที่ลูกค้าอนุมัติแล้วของออกจากคลังจริง และข้อ 7 ที่รับเงินแล้วระบบปิดงาน นับประกัน และสร้างรายการเตือนให้เอง เส้นประด้านขวาคือรถวนกลับมาเป็นงานเคลมหรืองานใหม่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91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ให้ดูภาพรวมก่อนว่ามีเจ็ดกลุ่ม สีหัวตารางตรงกับรายการทางซ้าย แล้วค่อยไปหน้าถัดไปที่ขยายให้อ่านชื่อคอลัมน์ได้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2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ไล่เส้นจากลูกค้า ไปรถ ไปใบงาน ไปบิล เส้นประจากบิลย้อนกลับมาที่ใบงานคืองานเคลม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85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ใบรับของหนึ่งใบสร้าง </a:t>
            </a:r>
            <a:r>
              <a:rPr lang="en-US"/>
              <a:t>Lot </a:t>
            </a:r>
            <a:r>
              <a:rPr lang="th-TH"/>
              <a:t>ให้สินค้าแต่ละตัว ทุกครั้งที่ </a:t>
            </a:r>
            <a:r>
              <a:rPr lang="en-US"/>
              <a:t>Lot </a:t>
            </a:r>
            <a:r>
              <a:rPr lang="th-TH"/>
              <a:t>ขยับจะมีหนึ่งบรรทัดในสมุดสต็อก ตัวสีส้มคือต้นทุนที่เห็นได้แค่เจ้าของอู่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04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บอกว่าต่อจากนี้จะเล่าห้าเรื่องที่ระบบเข้ามาช่วยจัดการแทนการจดกระดาษ ทั้งหมดแก้ปัญหาที่เล่าไว้ในหน้าที่มา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04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ชี้ให้เห็นว่าของชิ้นเดียวกันได้กำไรไม่เท่ากัน ขึ้นกับว่าหยิบจาก </a:t>
            </a:r>
            <a:r>
              <a:rPr lang="en-US"/>
              <a:t>Lot </a:t>
            </a:r>
            <a:r>
              <a:rPr lang="th-TH"/>
              <a:t>ไหน ถ้าใช้ทุนเฉลี่ยตัวเลขจะดูสวยแต่ไม่ตรงกับเงินที่ควักออกไป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22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หัก ณ ที่จ่ายไม่เกี่ยวกับ </a:t>
            </a:r>
            <a:r>
              <a:rPr lang="en-US"/>
              <a:t>VAT </a:t>
            </a:r>
            <a:r>
              <a:rPr lang="th-TH"/>
              <a:t>เป็นภาษีเงินได้ของอู่ที่บริษัทหักไว้แล้วให้ใบ 50 ทวิ มา หักจากค่าแรงอย่างเดียว ในตัวอย่างค่าแรงก่อน </a:t>
            </a:r>
            <a:r>
              <a:rPr lang="en-US"/>
              <a:t>VAT </a:t>
            </a:r>
            <a:r>
              <a:rPr lang="th-TH"/>
              <a:t>คือ 1,000 บาท เลยหัก 30 บาท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8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สองเรื่องนี้คนชอบสับสน ประกันคืออู่รับผิดชอบงานที่ซ่อมไป เตือนบำรุงรักษาคืออู่ชวนลูกค้ากลับมา เหมือนกันแค่เริ่มนับจากวันรับเงิน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75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งานเคลมใช้ใบงานแบบเดียวกับงานปกติ ต่างกันที่ราคาเป็น 0 แต่ของออกจากคลังจริงและต้นทุนถูกนับ เจ้าของอู่จึงเห็นว่าเคลมแต่ละครั้งเสียเงินไปเท่าไร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232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แดชบอร์ดไม่มีตารางสรุปแยก ทุกตัวเลขคิดสดจากบิลกับ </a:t>
            </a:r>
            <a:r>
              <a:rPr lang="en-US"/>
              <a:t>Lot </a:t>
            </a:r>
            <a:r>
              <a:rPr lang="th-TH"/>
              <a:t>ตัวเลขจึงตรงกับเอกสารเสมอ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27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ช่างรับของได้เพราะบางทีต้องขับไปซื้อของข้างอู่เอง แต่เห็นเฉพาะใบที่ตัวเองบันทึก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955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แถบบนคือทางที่ทุกคำขอเดิน ด้านล่างไล่ทีละหน้าจอว่าเรียก </a:t>
            </a:r>
            <a:r>
              <a:rPr lang="en-US"/>
              <a:t>URL </a:t>
            </a:r>
            <a:r>
              <a:rPr lang="th-TH"/>
              <a:t>ไหน ฟังก์ชันไหนทำงานจริง กล่องสีเข้มคือจุดที่เขียนลงฐานข้อมูล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35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เปิดรับคำถาม ถ้าถูกถามเรื่องที่ยังไม่ได้ทำ ให้ย้อนไปสไลด์ขอบเขต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D5767-884B-48F4-9EA2-88455F2AA3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18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5F1D-8850-2472-C1D2-6230C66C9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61C16-1EE8-1B96-9F8A-5CB435533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84790-9A40-B3B5-6B42-5D02684ED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54A-35AB-4DF5-82A7-7BFBF2087D9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A82F1-B019-206D-DD09-7CB32684B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595EC-ECD2-414F-0614-FE6CF8D1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A7EC-260A-4127-9885-A11F2DCB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7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F001A-364F-A136-7787-74ABC3F8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3670F-1B00-55F3-D693-76F07A717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881C0-969D-B21F-95CD-67068059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54A-35AB-4DF5-82A7-7BFBF2087D9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7A203-7DA3-D610-3155-9AFA31A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249FF-FF44-7257-B17E-BB16B58F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A7EC-260A-4127-9885-A11F2DCB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75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AA9E-6D9C-FB74-10CE-C5558C30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E48AD-9D2A-8549-23F3-1F9CDE4D4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87B87-C591-6BEB-B38D-B937675E0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54A-35AB-4DF5-82A7-7BFBF2087D9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D9158-EC47-689F-6E45-2FF4B584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C8118-7D11-871E-7FAB-7C36BD6D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A7EC-260A-4127-9885-A11F2DCB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91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61DF-C519-A533-E11D-3F907776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4DC31-7A81-0FA6-A8D4-AD0CEDF91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B98F8-B7A0-67AF-2B2D-0B04D0A54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DC9F-193E-306C-89E7-677491CAC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54A-35AB-4DF5-82A7-7BFBF2087D9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71AE5-747C-A6F2-6C66-E478795C5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79ED8-1724-30F0-12AE-7FA22525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A7EC-260A-4127-9885-A11F2DCB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4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DFCC-DC2F-CC24-2BEC-23A4CA19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41475-2E2D-5D54-0905-51484E3E2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2EA80-EDA0-9CC5-E1C3-422A3182D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34B225-CBEF-4E10-C438-90208242B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4F17D-8178-03BA-1E2A-8B71764EB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CF3A5D-364B-00E2-BF98-C089366DE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54A-35AB-4DF5-82A7-7BFBF2087D9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B1B8B-9FD9-3F0B-93B1-D6151A5D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FAB7F-E531-8D4D-72BA-BADB4233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A7EC-260A-4127-9885-A11F2DCB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3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809-DD1B-1244-192D-163A45F3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A5CAF7-0147-8428-9559-E6B77E96D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54A-35AB-4DF5-82A7-7BFBF2087D9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07F7EC-85FD-AB77-DD8D-D4E022ADD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A9516-29A5-F5B1-95B8-F3EE908B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A7EC-260A-4127-9885-A11F2DCB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03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B48A2E-8A0A-8BA4-B6BD-E45409E7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54A-35AB-4DF5-82A7-7BFBF2087D9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D9BCE6-87F3-0B22-D505-8F88C6C4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EED0C-A95D-0827-8B83-8A45ACC19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A7EC-260A-4127-9885-A11F2DCB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0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A9012-DA39-7A37-D190-5EE201A6D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4B481-1F99-15B2-4814-777CD58CA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DD84B-BBC2-2015-3D7D-191661F51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4ED9E-CEC1-52EA-1E74-4C92F77F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54A-35AB-4DF5-82A7-7BFBF2087D9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2655C-8C61-AC21-B7C1-B1B7E603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F83AF-8820-76D3-4B82-851AAFB6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A7EC-260A-4127-9885-A11F2DCB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64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F342-52B8-5B36-1108-4871D2D9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CDE5F7-650C-B176-CD68-28EB7FD8B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EEB10-916F-02C0-DE6B-085A228B2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94B73-01B5-2236-7A73-4BE68E90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54A-35AB-4DF5-82A7-7BFBF2087D9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8BBA7-23CE-C172-26B3-B005FE41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81E40-5206-82C7-3A96-A536B49B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A7EC-260A-4127-9885-A11F2DCB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9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6437-907D-5332-D899-CF4E81DD6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05758-E489-EC11-14F5-47D37EF3D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F62E1-0CE2-9BF7-102C-C58D265D3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54A-35AB-4DF5-82A7-7BFBF2087D9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C0271-D92F-1577-2788-90126EC09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F7B9C-BC2A-0172-4D58-8AF33FC9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A7EC-260A-4127-9885-A11F2DCB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45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08DC4-D7FC-1CCB-AF40-B622DDC67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73EFA-1954-AC18-F1F9-80677C463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3D79D-6587-60D3-718C-3A9E8729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754A-35AB-4DF5-82A7-7BFBF2087D9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4922A-E4E4-429E-D1D1-297423E9A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C2ECE-29A7-75D1-6100-81ABF6B59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A7EC-260A-4127-9885-A11F2DCB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8CE6C4-1D0A-4C60-09ED-30DC1157E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59D1-C04E-877B-3659-14EFA0111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9EE87-7288-AAFA-1CAB-6B1469331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1754A-35AB-4DF5-82A7-7BFBF2087D9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11AB8-0276-5397-92E9-4A5C60407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C842-F85E-031B-A558-20A0402DD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3A7EC-260A-4127-9885-A11F2DCB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5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C46CA0-47CC-FFEA-4A85-D4D9838B95A8}"/>
              </a:ext>
            </a:extLst>
          </p:cNvPr>
          <p:cNvSpPr txBox="1"/>
          <p:nvPr/>
        </p:nvSpPr>
        <p:spPr>
          <a:xfrm>
            <a:off x="812800" y="8128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ปีการศึกษา 2569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F2D722-ACA4-11F3-D849-63ABE79EC67A}"/>
              </a:ext>
            </a:extLst>
          </p:cNvPr>
          <p:cNvSpPr txBox="1"/>
          <p:nvPr/>
        </p:nvSpPr>
        <p:spPr>
          <a:xfrm>
            <a:off x="812800" y="2540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48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ระบบจัดการอู่ซ่อมรถ</a:t>
            </a:r>
            <a:endParaRPr lang="en-US" sz="48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419C9-977F-E4D3-A4C0-A176E39772B1}"/>
              </a:ext>
            </a:extLst>
          </p:cNvPr>
          <p:cNvSpPr txBox="1"/>
          <p:nvPr/>
        </p:nvSpPr>
        <p:spPr>
          <a:xfrm>
            <a:off x="812800" y="3429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20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เว็บแอปสำหรับอู่สาขาเดียว ใช้ได้ทั้งมือถือและคอม</a:t>
            </a:r>
            <a:endParaRPr lang="en-US" sz="20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58030-A720-906D-7623-BB06DEE286FA}"/>
              </a:ext>
            </a:extLst>
          </p:cNvPr>
          <p:cNvSpPr txBox="1"/>
          <p:nvPr/>
        </p:nvSpPr>
        <p:spPr>
          <a:xfrm>
            <a:off x="812800" y="5435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ผู้จัดทำ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ABD8F-9DD2-EBDC-6527-B6DEF4AD1B14}"/>
              </a:ext>
            </a:extLst>
          </p:cNvPr>
          <p:cNvSpPr txBox="1"/>
          <p:nvPr/>
        </p:nvSpPr>
        <p:spPr>
          <a:xfrm>
            <a:off x="812800" y="5689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6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นาย ธนพนธ์ แก้วแจ่มใส  6620301002</a:t>
            </a:r>
            <a:endParaRPr lang="en-US" sz="16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25011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069729-D536-7F52-309E-2CEA86C547EF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ที่มาและความสำคัญ</a:t>
            </a:r>
            <a:endParaRPr lang="en-US" sz="32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13C9E9-DEFB-4EB5-DD6C-3D6E0954E599}"/>
              </a:ext>
            </a:extLst>
          </p:cNvPr>
          <p:cNvSpPr txBox="1"/>
          <p:nvPr/>
        </p:nvSpPr>
        <p:spPr>
          <a:xfrm>
            <a:off x="812800" y="1371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20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งานในอู่ยังจดลงกระดาษ แยกกันคนละเล่ม</a:t>
            </a:r>
            <a:endParaRPr lang="en-US" sz="20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528FDC4-72CF-77FC-B389-E8EB0A44C755}"/>
              </a:ext>
            </a:extLst>
          </p:cNvPr>
          <p:cNvCxnSpPr/>
          <p:nvPr/>
        </p:nvCxnSpPr>
        <p:spPr>
          <a:xfrm>
            <a:off x="812800" y="20955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CF9A720-CBE1-2DE0-6EDC-CE6DD6385EC7}"/>
              </a:ext>
            </a:extLst>
          </p:cNvPr>
          <p:cNvSpPr txBox="1"/>
          <p:nvPr/>
        </p:nvSpPr>
        <p:spPr>
          <a:xfrm>
            <a:off x="812800" y="22733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ข้อมูลไม่ตรงกัน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4E201A-CC8A-ED00-B935-A0C061B44495}"/>
              </a:ext>
            </a:extLst>
          </p:cNvPr>
          <p:cNvSpPr txBox="1"/>
          <p:nvPr/>
        </p:nvSpPr>
        <p:spPr>
          <a:xfrm>
            <a:off x="812800" y="26035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ใบงาน บิล และสต็อกอยู่คนละเล่ม ของหมดคลังก็รู้ตอนจะหยิบใช้</a:t>
            </a:r>
            <a:endParaRPr lang="en-US" sz="15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3E5FEF-90DE-7CB3-5736-9EDA28F4C06C}"/>
              </a:ext>
            </a:extLst>
          </p:cNvPr>
          <p:cNvCxnSpPr/>
          <p:nvPr/>
        </p:nvCxnSpPr>
        <p:spPr>
          <a:xfrm>
            <a:off x="4438650" y="20955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5716FDE-09FD-EEF7-C1CA-979E6E9C3514}"/>
              </a:ext>
            </a:extLst>
          </p:cNvPr>
          <p:cNvSpPr txBox="1"/>
          <p:nvPr/>
        </p:nvSpPr>
        <p:spPr>
          <a:xfrm>
            <a:off x="4438650" y="22733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ไม่รู้กำไรจริง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2A713-DFE3-567B-7AD7-52F0297F8204}"/>
              </a:ext>
            </a:extLst>
          </p:cNvPr>
          <p:cNvSpPr txBox="1"/>
          <p:nvPr/>
        </p:nvSpPr>
        <p:spPr>
          <a:xfrm>
            <a:off x="4438650" y="26035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อะไหล่ซื้อแต่ละรอบราคาไม่เท่ากัน เลยบอกไม่ได้ว่างานไหนได้กำไรเท่าไร</a:t>
            </a:r>
            <a:endParaRPr lang="en-US" sz="15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CF2243-05EA-A8E4-2E19-A0ED11D0AB1E}"/>
              </a:ext>
            </a:extLst>
          </p:cNvPr>
          <p:cNvCxnSpPr/>
          <p:nvPr/>
        </p:nvCxnSpPr>
        <p:spPr>
          <a:xfrm>
            <a:off x="8064500" y="20955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10BED9F-76C5-0420-A1D1-43C8863C54F4}"/>
              </a:ext>
            </a:extLst>
          </p:cNvPr>
          <p:cNvSpPr txBox="1"/>
          <p:nvPr/>
        </p:nvSpPr>
        <p:spPr>
          <a:xfrm>
            <a:off x="8064500" y="22733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ตามลูกค้าไม่ได้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E67F95-A62D-6B80-711A-7EABF9993B44}"/>
              </a:ext>
            </a:extLst>
          </p:cNvPr>
          <p:cNvSpPr txBox="1"/>
          <p:nvPr/>
        </p:nvSpPr>
        <p:spPr>
          <a:xfrm>
            <a:off x="8064500" y="26035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อยากรู้ว่ารถคันไหนถึงรอบเปลี่ยนน้ำมันเครื่อง ต้องนั่งเปิดสมุดหาเอง</a:t>
            </a:r>
            <a:endParaRPr lang="en-US" sz="15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CDA418-6D47-BA45-A716-40B7D5E04A2D}"/>
              </a:ext>
            </a:extLst>
          </p:cNvPr>
          <p:cNvSpPr txBox="1"/>
          <p:nvPr/>
        </p:nvSpPr>
        <p:spPr>
          <a:xfrm>
            <a:off x="812800" y="3810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โครงงานนี้เลยทำระบบเดียว ให้ทุกคนในอู่ใช้ข้อมูลชุดเดียวกัน</a:t>
            </a:r>
            <a:endParaRPr lang="en-US" sz="15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6BB3C1-8F78-7BC5-8866-5FF83BEC2054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763D0-2293-6CCA-2434-DA9B8B19E30C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01 / 17</a:t>
            </a:r>
          </a:p>
        </p:txBody>
      </p:sp>
    </p:spTree>
    <p:extLst>
      <p:ext uri="{BB962C8B-B14F-4D97-AF65-F5344CB8AC3E}">
        <p14:creationId xmlns:p14="http://schemas.microsoft.com/office/powerpoint/2010/main" val="4294634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537F4D-7AB4-3D4C-A2DE-22299311CA66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วัตถุประสงค์ของโครงงาน</a:t>
            </a:r>
            <a:endParaRPr lang="en-US" sz="32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8A70715-4520-F7B8-B6C8-87DB8CAB6791}"/>
              </a:ext>
            </a:extLst>
          </p:cNvPr>
          <p:cNvCxnSpPr/>
          <p:nvPr/>
        </p:nvCxnSpPr>
        <p:spPr>
          <a:xfrm>
            <a:off x="812800" y="13716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F1F4C2D-20BF-2DEF-BEC2-D3D0DB089B86}"/>
              </a:ext>
            </a:extLst>
          </p:cNvPr>
          <p:cNvSpPr txBox="1"/>
          <p:nvPr/>
        </p:nvSpPr>
        <p:spPr>
          <a:xfrm>
            <a:off x="812800" y="15367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3A397-F3D3-E229-50AA-9C4E4B199964}"/>
              </a:ext>
            </a:extLst>
          </p:cNvPr>
          <p:cNvSpPr txBox="1"/>
          <p:nvPr/>
        </p:nvSpPr>
        <p:spPr>
          <a:xfrm>
            <a:off x="1397000" y="15240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ทำระบบเดียวที่ใช้ได้ตั้งแต่รับรถจนรับเงิน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9ECFF-97B3-D3AF-6BF5-83CFCF149544}"/>
              </a:ext>
            </a:extLst>
          </p:cNvPr>
          <p:cNvSpPr txBox="1"/>
          <p:nvPr/>
        </p:nvSpPr>
        <p:spPr>
          <a:xfrm>
            <a:off x="1397000" y="18161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3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รับรถ ตีราคา ซ่อม ออกบิล รับเงิน สั่งของเข้าคลัง ขายหน้าร้าน และตามลูกค้าเก่าให้กลับมา</a:t>
            </a:r>
            <a:endParaRPr lang="en-US" sz="13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15AF0C-C291-9891-26DB-E3A6DECA8F0F}"/>
              </a:ext>
            </a:extLst>
          </p:cNvPr>
          <p:cNvCxnSpPr/>
          <p:nvPr/>
        </p:nvCxnSpPr>
        <p:spPr>
          <a:xfrm>
            <a:off x="812800" y="22352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7E4610-E1B2-976B-1AD4-A356C981BC3B}"/>
              </a:ext>
            </a:extLst>
          </p:cNvPr>
          <p:cNvSpPr txBox="1"/>
          <p:nvPr/>
        </p:nvSpPr>
        <p:spPr>
          <a:xfrm>
            <a:off x="812800" y="24003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D4D3DE-631B-0D05-51C1-2EDDC4EEF7AA}"/>
              </a:ext>
            </a:extLst>
          </p:cNvPr>
          <p:cNvSpPr txBox="1"/>
          <p:nvPr/>
        </p:nvSpPr>
        <p:spPr>
          <a:xfrm>
            <a:off x="1397000" y="23876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คิดต้นทุนอะไหล่แยกตาม </a:t>
            </a:r>
            <a:r>
              <a:rPr lang="en-US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Lot </a:t>
            </a:r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แบบ </a:t>
            </a:r>
            <a:r>
              <a:rPr lang="en-US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FIFO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B68D1E-1699-98AC-7582-CC23BE658073}"/>
              </a:ext>
            </a:extLst>
          </p:cNvPr>
          <p:cNvSpPr txBox="1"/>
          <p:nvPr/>
        </p:nvSpPr>
        <p:spPr>
          <a:xfrm>
            <a:off x="1397000" y="26797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3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ของที่ซื้อเข้ามาแต่ละรอบจำราคาของรอบนั้นไว้ เบิกจาก </a:t>
            </a:r>
            <a:r>
              <a:rPr lang="en-US" sz="13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Lot </a:t>
            </a:r>
            <a:r>
              <a:rPr lang="th-TH" sz="13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เก่าก่อน กำไรจึงตรงกับเงินที่จ่ายจริง</a:t>
            </a:r>
            <a:endParaRPr lang="en-US" sz="13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D4C899-E19E-C7B5-48DC-EC2EC15D8E38}"/>
              </a:ext>
            </a:extLst>
          </p:cNvPr>
          <p:cNvCxnSpPr/>
          <p:nvPr/>
        </p:nvCxnSpPr>
        <p:spPr>
          <a:xfrm>
            <a:off x="812800" y="30988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5B982B8-890F-D0B1-8694-7565B0C8C01B}"/>
              </a:ext>
            </a:extLst>
          </p:cNvPr>
          <p:cNvSpPr txBox="1"/>
          <p:nvPr/>
        </p:nvSpPr>
        <p:spPr>
          <a:xfrm>
            <a:off x="812800" y="32639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0A57AA-8DDA-DD40-F653-F821D784D409}"/>
              </a:ext>
            </a:extLst>
          </p:cNvPr>
          <p:cNvSpPr txBox="1"/>
          <p:nvPr/>
        </p:nvSpPr>
        <p:spPr>
          <a:xfrm>
            <a:off x="1397000" y="32512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ของเข้าออกคลังตรวจย้อนได้ทุกครั้ง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6F2C13-C4A9-0FAC-4B79-7E950B7AFF9C}"/>
              </a:ext>
            </a:extLst>
          </p:cNvPr>
          <p:cNvSpPr txBox="1"/>
          <p:nvPr/>
        </p:nvSpPr>
        <p:spPr>
          <a:xfrm>
            <a:off x="1397000" y="35433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3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รับ เบิก คืน ปรับ ทุกครั้งมีชื่อคนทำ ถ้าเป็นการปรับต้องใส่เหตุผลด้วย</a:t>
            </a:r>
            <a:endParaRPr lang="en-US" sz="13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1FEFBA2-8810-D4B3-8C55-6CEA8CBABDE0}"/>
              </a:ext>
            </a:extLst>
          </p:cNvPr>
          <p:cNvCxnSpPr/>
          <p:nvPr/>
        </p:nvCxnSpPr>
        <p:spPr>
          <a:xfrm>
            <a:off x="812800" y="39624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5170BBA-3B2B-B2A9-B8D2-6FB7813F0B0A}"/>
              </a:ext>
            </a:extLst>
          </p:cNvPr>
          <p:cNvSpPr txBox="1"/>
          <p:nvPr/>
        </p:nvSpPr>
        <p:spPr>
          <a:xfrm>
            <a:off x="812800" y="41275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2ECB0C-15E7-887E-B7F7-430EAB2EFB5F}"/>
              </a:ext>
            </a:extLst>
          </p:cNvPr>
          <p:cNvSpPr txBox="1"/>
          <p:nvPr/>
        </p:nvSpPr>
        <p:spPr>
          <a:xfrm>
            <a:off x="1397000" y="41148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ออกบิลและรายงานภาษีให้ตรงกับที่สรรพากรกำหนด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C4507-DD82-CA4F-D80C-AE78F1477ACC}"/>
              </a:ext>
            </a:extLst>
          </p:cNvPr>
          <p:cNvSpPr txBox="1"/>
          <p:nvPr/>
        </p:nvSpPr>
        <p:spPr>
          <a:xfrm>
            <a:off x="1397000" y="44069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3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บิลแบบย่อและเต็มรูป เลขเรียงห้ามข้าม และรายงานภาษีซื้อขายรายเดือนไว้ยื่น ภ.พ.30</a:t>
            </a:r>
            <a:endParaRPr lang="en-US" sz="13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8D1ECF-4044-9BC1-CF41-231F87FB3D9A}"/>
              </a:ext>
            </a:extLst>
          </p:cNvPr>
          <p:cNvCxnSpPr/>
          <p:nvPr/>
        </p:nvCxnSpPr>
        <p:spPr>
          <a:xfrm>
            <a:off x="812800" y="48260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9081557-DC0C-13C2-C928-053BC89BC114}"/>
              </a:ext>
            </a:extLst>
          </p:cNvPr>
          <p:cNvSpPr txBox="1"/>
          <p:nvPr/>
        </p:nvSpPr>
        <p:spPr>
          <a:xfrm>
            <a:off x="812800" y="49911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8AD440-D84B-4CF1-59B2-FE70724E15F8}"/>
              </a:ext>
            </a:extLst>
          </p:cNvPr>
          <p:cNvSpPr txBox="1"/>
          <p:nvPr/>
        </p:nvSpPr>
        <p:spPr>
          <a:xfrm>
            <a:off x="1397000" y="49784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แยกสิทธิ์ผู้ใช้สามบทบาท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CE3ED7-001B-37FD-67B6-8A122C6766D8}"/>
              </a:ext>
            </a:extLst>
          </p:cNvPr>
          <p:cNvSpPr txBox="1"/>
          <p:nvPr/>
        </p:nvSpPr>
        <p:spPr>
          <a:xfrm>
            <a:off x="1397000" y="52705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3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ต้นทุนกับกำไรเห็นได้แค่เจ้าของอู่ งานสำคัญอย่างอนุมัติ ออกบิล รับเงิน จำไว้ว่าใครเป็นคนกด</a:t>
            </a:r>
            <a:endParaRPr lang="en-US" sz="13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4A4182-AC07-0132-3EE1-A98BFDB9905E}"/>
              </a:ext>
            </a:extLst>
          </p:cNvPr>
          <p:cNvCxnSpPr/>
          <p:nvPr/>
        </p:nvCxnSpPr>
        <p:spPr>
          <a:xfrm>
            <a:off x="812800" y="56896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EDCA7DB-955D-6544-4AC9-4F621CBAA0F0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D8E1C8-17CF-F83E-BE0A-6A5BBC0C09C7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3762093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096478-169F-B1B1-A0F4-19C908CB5EBB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ขอบเขตของโครงงาน</a:t>
            </a:r>
            <a:endParaRPr lang="en-US" sz="32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D38E35-E41F-4BA3-CAEB-83DD4CD40AC0}"/>
              </a:ext>
            </a:extLst>
          </p:cNvPr>
          <p:cNvCxnSpPr/>
          <p:nvPr/>
        </p:nvCxnSpPr>
        <p:spPr>
          <a:xfrm>
            <a:off x="812800" y="13716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92A7B69-2503-F5E3-BE17-3FFA53D3DF78}"/>
              </a:ext>
            </a:extLst>
          </p:cNvPr>
          <p:cNvSpPr txBox="1"/>
          <p:nvPr/>
        </p:nvSpPr>
        <p:spPr>
          <a:xfrm>
            <a:off x="812800" y="15367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ABFBA-43D3-BF26-2EEC-46379DD639D7}"/>
              </a:ext>
            </a:extLst>
          </p:cNvPr>
          <p:cNvSpPr txBox="1"/>
          <p:nvPr/>
        </p:nvSpPr>
        <p:spPr>
          <a:xfrm>
            <a:off x="1397000" y="15240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อู่สาขาเดียว รับทั้งรถยนต์และมอเตอร์ไซค์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BF4524-4C3C-F7D8-E616-143318AD437C}"/>
              </a:ext>
            </a:extLst>
          </p:cNvPr>
          <p:cNvSpPr txBox="1"/>
          <p:nvPr/>
        </p:nvSpPr>
        <p:spPr>
          <a:xfrm>
            <a:off x="1397000" y="18161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3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เจ้าของอู่ พนักงาน และช่าง ใช้เว็บเดียวกัน ทั้งบนมือถือและคอม</a:t>
            </a:r>
            <a:endParaRPr lang="en-US" sz="13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758C07-1C25-A3E3-2BD1-B820E1B47010}"/>
              </a:ext>
            </a:extLst>
          </p:cNvPr>
          <p:cNvCxnSpPr/>
          <p:nvPr/>
        </p:nvCxnSpPr>
        <p:spPr>
          <a:xfrm>
            <a:off x="812800" y="22352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877D11-BF34-AC0E-F23F-C2C1144DE3F0}"/>
              </a:ext>
            </a:extLst>
          </p:cNvPr>
          <p:cNvSpPr txBox="1"/>
          <p:nvPr/>
        </p:nvSpPr>
        <p:spPr>
          <a:xfrm>
            <a:off x="812800" y="24003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7B217-8453-754F-F83C-626C77024FAE}"/>
              </a:ext>
            </a:extLst>
          </p:cNvPr>
          <p:cNvSpPr txBox="1"/>
          <p:nvPr/>
        </p:nvSpPr>
        <p:spPr>
          <a:xfrm>
            <a:off x="1397000" y="23876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รับรถ ตีราคา ซ่อม ออกบิล รับเงิน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7C92D3-1839-95FF-1215-D4B50D1C2C36}"/>
              </a:ext>
            </a:extLst>
          </p:cNvPr>
          <p:cNvSpPr txBox="1"/>
          <p:nvPr/>
        </p:nvSpPr>
        <p:spPr>
          <a:xfrm>
            <a:off x="1397000" y="26797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3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รวมงานเคลมฟรีตามประกัน และขายอะไหล่หน้าร้านที่ไม่ผ่านใบงาน</a:t>
            </a:r>
            <a:endParaRPr lang="en-US" sz="13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0E8BD0-AC2D-E790-3122-3DC6BA56CD8E}"/>
              </a:ext>
            </a:extLst>
          </p:cNvPr>
          <p:cNvCxnSpPr/>
          <p:nvPr/>
        </p:nvCxnSpPr>
        <p:spPr>
          <a:xfrm>
            <a:off x="812800" y="30988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18B9347-BD8C-526A-4B9C-C1114A192773}"/>
              </a:ext>
            </a:extLst>
          </p:cNvPr>
          <p:cNvSpPr txBox="1"/>
          <p:nvPr/>
        </p:nvSpPr>
        <p:spPr>
          <a:xfrm>
            <a:off x="812800" y="32639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FDAA7C-BE1E-B10F-D46F-339C23B975FC}"/>
              </a:ext>
            </a:extLst>
          </p:cNvPr>
          <p:cNvSpPr txBox="1"/>
          <p:nvPr/>
        </p:nvSpPr>
        <p:spPr>
          <a:xfrm>
            <a:off x="1397000" y="32512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สั่งซื้อ รับของเข้าคลัง สต็อกแยก </a:t>
            </a:r>
            <a:r>
              <a:rPr lang="en-US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Lot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3F091-3F1B-6D0B-9A01-4B37DC7E861D}"/>
              </a:ext>
            </a:extLst>
          </p:cNvPr>
          <p:cNvSpPr txBox="1"/>
          <p:nvPr/>
        </p:nvSpPr>
        <p:spPr>
          <a:xfrm>
            <a:off x="1397000" y="35433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3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ซื้อด่วนหน้างานโดยไม่มีใบสั่งซื้อก็ได้ ปรับสต็อกต้องใส่เหตุผล</a:t>
            </a:r>
            <a:endParaRPr lang="en-US" sz="13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B17327-CB37-827B-4180-B9B4C24BA533}"/>
              </a:ext>
            </a:extLst>
          </p:cNvPr>
          <p:cNvCxnSpPr/>
          <p:nvPr/>
        </p:nvCxnSpPr>
        <p:spPr>
          <a:xfrm>
            <a:off x="812800" y="39624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FD74A23-2F7E-2340-6980-D49FC4B21453}"/>
              </a:ext>
            </a:extLst>
          </p:cNvPr>
          <p:cNvSpPr txBox="1"/>
          <p:nvPr/>
        </p:nvSpPr>
        <p:spPr>
          <a:xfrm>
            <a:off x="812800" y="41275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C008DC-99BD-68BF-C213-D430B05BD960}"/>
              </a:ext>
            </a:extLst>
          </p:cNvPr>
          <p:cNvSpPr txBox="1"/>
          <p:nvPr/>
        </p:nvSpPr>
        <p:spPr>
          <a:xfrm>
            <a:off x="1397000" y="41148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เตือนบำรุงรักษา แดชบอร์ด รายงานภาษี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FF13F5-8890-0E7F-A819-34E6AF6105C8}"/>
              </a:ext>
            </a:extLst>
          </p:cNvPr>
          <p:cNvSpPr txBox="1"/>
          <p:nvPr/>
        </p:nvSpPr>
        <p:spPr>
          <a:xfrm>
            <a:off x="1397000" y="44069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3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ตามลูกค้าตามรอบเปลี่ยนอะไหล่ ดูกำไร และสรุปภาษีซื้อขายรายเดือน</a:t>
            </a:r>
            <a:endParaRPr lang="en-US" sz="13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FC6DF9-1EA5-1D26-0054-ABCA8568C14A}"/>
              </a:ext>
            </a:extLst>
          </p:cNvPr>
          <p:cNvCxnSpPr/>
          <p:nvPr/>
        </p:nvCxnSpPr>
        <p:spPr>
          <a:xfrm>
            <a:off x="812800" y="48260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4E62E1-81C5-EE07-A340-A4494EEA0475}"/>
              </a:ext>
            </a:extLst>
          </p:cNvPr>
          <p:cNvSpPr txBox="1"/>
          <p:nvPr/>
        </p:nvSpPr>
        <p:spPr>
          <a:xfrm>
            <a:off x="812800" y="49911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56403E-2622-0034-A7B3-FD28B2BCF5A3}"/>
              </a:ext>
            </a:extLst>
          </p:cNvPr>
          <p:cNvSpPr txBox="1"/>
          <p:nvPr/>
        </p:nvSpPr>
        <p:spPr>
          <a:xfrm>
            <a:off x="1397000" y="49784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ขนาดของระบบ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953F15-1860-1C03-C3A3-2CD6D2DB17D8}"/>
              </a:ext>
            </a:extLst>
          </p:cNvPr>
          <p:cNvSpPr txBox="1"/>
          <p:nvPr/>
        </p:nvSpPr>
        <p:spPr>
          <a:xfrm>
            <a:off x="1397000" y="5270500"/>
            <a:ext cx="998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3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16 ตาราง 16 หน้าจอ และหน้าพิมพ์ 3 แบบ คือใบเสนอราคา บิล และใบสั่งซื้อ</a:t>
            </a:r>
            <a:endParaRPr lang="en-US" sz="13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683B9A4-EADB-B3FF-1BEF-93F18C7E1655}"/>
              </a:ext>
            </a:extLst>
          </p:cNvPr>
          <p:cNvCxnSpPr/>
          <p:nvPr/>
        </p:nvCxnSpPr>
        <p:spPr>
          <a:xfrm>
            <a:off x="812800" y="56896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D4C8113-1E84-D8ED-AB3B-24123E9A655E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686A0E-57ED-1B23-3985-77286F52EEAD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03 / 17</a:t>
            </a:r>
          </a:p>
        </p:txBody>
      </p:sp>
    </p:spTree>
    <p:extLst>
      <p:ext uri="{BB962C8B-B14F-4D97-AF65-F5344CB8AC3E}">
        <p14:creationId xmlns:p14="http://schemas.microsoft.com/office/powerpoint/2010/main" val="35769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68C773-DFA7-D0C5-D94C-4D83840F2D20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ประโยชน์ที่คาดว่าจะได้รับ</a:t>
            </a:r>
            <a:endParaRPr lang="en-US" sz="32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9FA4A8-B036-22BB-2206-7D3193CFAC3C}"/>
              </a:ext>
            </a:extLst>
          </p:cNvPr>
          <p:cNvCxnSpPr/>
          <p:nvPr/>
        </p:nvCxnSpPr>
        <p:spPr>
          <a:xfrm>
            <a:off x="812800" y="1498600"/>
            <a:ext cx="5080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054DD7D-8A60-9667-7C85-EF171D7CA4A6}"/>
              </a:ext>
            </a:extLst>
          </p:cNvPr>
          <p:cNvSpPr txBox="1"/>
          <p:nvPr/>
        </p:nvSpPr>
        <p:spPr>
          <a:xfrm>
            <a:off x="812800" y="16891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8D0BA-24C0-A0C4-D12C-81679518A216}"/>
              </a:ext>
            </a:extLst>
          </p:cNvPr>
          <p:cNvSpPr txBox="1"/>
          <p:nvPr/>
        </p:nvSpPr>
        <p:spPr>
          <a:xfrm>
            <a:off x="1320800" y="16637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รู้กำไรจริงของแต่ละงาน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640D1-0947-0460-0C24-03076FDB74B7}"/>
              </a:ext>
            </a:extLst>
          </p:cNvPr>
          <p:cNvSpPr txBox="1"/>
          <p:nvPr/>
        </p:nvSpPr>
        <p:spPr>
          <a:xfrm>
            <a:off x="1320800" y="19685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4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ต้นทุนมาจากราคาที่ซื้อจริงในแต่ละรอบ</a:t>
            </a:r>
            <a:endParaRPr lang="en-US" sz="14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568D3E-6250-DC22-2E56-1585BDBF9C3A}"/>
              </a:ext>
            </a:extLst>
          </p:cNvPr>
          <p:cNvCxnSpPr/>
          <p:nvPr/>
        </p:nvCxnSpPr>
        <p:spPr>
          <a:xfrm>
            <a:off x="6299200" y="1498600"/>
            <a:ext cx="5080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3C02DC-2ED4-4575-C738-CA9C1E1AB908}"/>
              </a:ext>
            </a:extLst>
          </p:cNvPr>
          <p:cNvSpPr txBox="1"/>
          <p:nvPr/>
        </p:nvSpPr>
        <p:spPr>
          <a:xfrm>
            <a:off x="6299200" y="16891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FCB0C8-FD89-3801-D85F-5DFEBA017F75}"/>
              </a:ext>
            </a:extLst>
          </p:cNvPr>
          <p:cNvSpPr txBox="1"/>
          <p:nvPr/>
        </p:nvSpPr>
        <p:spPr>
          <a:xfrm>
            <a:off x="6807200" y="16637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สต็อกตรงกับของจริง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7FACA2-1073-5DD7-1614-0F2C07E82D2F}"/>
              </a:ext>
            </a:extLst>
          </p:cNvPr>
          <p:cNvSpPr txBox="1"/>
          <p:nvPr/>
        </p:nvSpPr>
        <p:spPr>
          <a:xfrm>
            <a:off x="6807200" y="19685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4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ของเข้าออกทุกครั้งมีบันทึก ย้อนดูได้ว่าใครทำ ทำเพราะอะไร</a:t>
            </a:r>
            <a:endParaRPr lang="en-US" sz="14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8403B-EA6B-4DAA-ADED-E888E5DAD069}"/>
              </a:ext>
            </a:extLst>
          </p:cNvPr>
          <p:cNvCxnSpPr/>
          <p:nvPr/>
        </p:nvCxnSpPr>
        <p:spPr>
          <a:xfrm>
            <a:off x="812800" y="3086100"/>
            <a:ext cx="5080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31F8006-CD2F-12CD-1942-2FF4D96734BC}"/>
              </a:ext>
            </a:extLst>
          </p:cNvPr>
          <p:cNvSpPr txBox="1"/>
          <p:nvPr/>
        </p:nvSpPr>
        <p:spPr>
          <a:xfrm>
            <a:off x="812800" y="32766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4DF6B9-12CC-9CF6-AAFA-3E2784A4F68C}"/>
              </a:ext>
            </a:extLst>
          </p:cNvPr>
          <p:cNvSpPr txBox="1"/>
          <p:nvPr/>
        </p:nvSpPr>
        <p:spPr>
          <a:xfrm>
            <a:off x="1320800" y="32512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สรุปภาษีได้ทุกเดือน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5C946-315F-7938-1ADB-FAF850631871}"/>
              </a:ext>
            </a:extLst>
          </p:cNvPr>
          <p:cNvSpPr txBox="1"/>
          <p:nvPr/>
        </p:nvSpPr>
        <p:spPr>
          <a:xfrm>
            <a:off x="1320800" y="35560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4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ภาษีขายดึงจากบิล ภาษีซื้อดึงจากใบรับของ ไม่ต้องไล่รวมเอง</a:t>
            </a:r>
            <a:endParaRPr lang="en-US" sz="14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FADBE4-CF3A-0F6E-3D58-ABE1715F9693}"/>
              </a:ext>
            </a:extLst>
          </p:cNvPr>
          <p:cNvCxnSpPr/>
          <p:nvPr/>
        </p:nvCxnSpPr>
        <p:spPr>
          <a:xfrm>
            <a:off x="6299200" y="3086100"/>
            <a:ext cx="5080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31E3444-954F-5C67-3BD0-B5CC7916C4D1}"/>
              </a:ext>
            </a:extLst>
          </p:cNvPr>
          <p:cNvSpPr txBox="1"/>
          <p:nvPr/>
        </p:nvSpPr>
        <p:spPr>
          <a:xfrm>
            <a:off x="6299200" y="32766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EE2424-CFBD-8E5F-50AD-79425B654E15}"/>
              </a:ext>
            </a:extLst>
          </p:cNvPr>
          <p:cNvSpPr txBox="1"/>
          <p:nvPr/>
        </p:nvSpPr>
        <p:spPr>
          <a:xfrm>
            <a:off x="6807200" y="32512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ลูกค้าเก่ากลับมาใช้บริการ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DC1488-2DB5-EAA2-ADC5-E3FA1708D550}"/>
              </a:ext>
            </a:extLst>
          </p:cNvPr>
          <p:cNvSpPr txBox="1"/>
          <p:nvPr/>
        </p:nvSpPr>
        <p:spPr>
          <a:xfrm>
            <a:off x="6807200" y="35560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4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ถึงรอบเปลี่ยนอะไหล่ ระบบขึ้นรายชื่อให้โทรตาม</a:t>
            </a:r>
            <a:endParaRPr lang="en-US" sz="14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9ED26B-30A2-4879-C94A-00125C4AF039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8CAA7D-E255-FF43-C616-4F64F103F84C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04 / 17</a:t>
            </a:r>
          </a:p>
        </p:txBody>
      </p:sp>
    </p:spTree>
    <p:extLst>
      <p:ext uri="{BB962C8B-B14F-4D97-AF65-F5344CB8AC3E}">
        <p14:creationId xmlns:p14="http://schemas.microsoft.com/office/powerpoint/2010/main" val="1619067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5B3231-AC1C-D5D5-8FE1-1EA35E9E805E}"/>
              </a:ext>
            </a:extLst>
          </p:cNvPr>
          <p:cNvSpPr/>
          <p:nvPr/>
        </p:nvSpPr>
        <p:spPr>
          <a:xfrm>
            <a:off x="3556000" y="1346200"/>
            <a:ext cx="5080000" cy="952500"/>
          </a:xfrm>
          <a:prstGeom prst="roundRect">
            <a:avLst>
              <a:gd name="adj" fmla="val 10667"/>
            </a:avLst>
          </a:prstGeom>
          <a:solidFill>
            <a:srgbClr val="FCFDFE"/>
          </a:solidFill>
          <a:ln w="9525">
            <a:solidFill>
              <a:srgbClr val="DC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507E15-8472-4174-B5E5-05BEAC3C8C38}"/>
              </a:ext>
            </a:extLst>
          </p:cNvPr>
          <p:cNvSpPr/>
          <p:nvPr/>
        </p:nvSpPr>
        <p:spPr>
          <a:xfrm>
            <a:off x="3556000" y="2819400"/>
            <a:ext cx="5080000" cy="952500"/>
          </a:xfrm>
          <a:prstGeom prst="roundRect">
            <a:avLst>
              <a:gd name="adj" fmla="val 10667"/>
            </a:avLst>
          </a:prstGeom>
          <a:solidFill>
            <a:srgbClr val="E6ED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A8BAD3-C834-D834-ECA5-98A311E7C9F8}"/>
              </a:ext>
            </a:extLst>
          </p:cNvPr>
          <p:cNvSpPr/>
          <p:nvPr/>
        </p:nvSpPr>
        <p:spPr>
          <a:xfrm>
            <a:off x="3556000" y="4292600"/>
            <a:ext cx="5080000" cy="952500"/>
          </a:xfrm>
          <a:prstGeom prst="roundRect">
            <a:avLst>
              <a:gd name="adj" fmla="val 10667"/>
            </a:avLst>
          </a:prstGeom>
          <a:solidFill>
            <a:srgbClr val="FCFDFE"/>
          </a:solidFill>
          <a:ln w="9525">
            <a:solidFill>
              <a:srgbClr val="DC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A03C4-004D-D7E6-D2CD-059F82BD80D4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สถาปัตยกรรมระบบ</a:t>
            </a:r>
            <a:endParaRPr lang="en-US" sz="32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CBFB6-5338-7F44-AF3D-1CDD2F208AFD}"/>
              </a:ext>
            </a:extLst>
          </p:cNvPr>
          <p:cNvSpPr txBox="1"/>
          <p:nvPr/>
        </p:nvSpPr>
        <p:spPr>
          <a:xfrm>
            <a:off x="3556000" y="1549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หน้าเว็บ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0D286-4BCD-9489-E24B-C8A67C1FBB3A}"/>
              </a:ext>
            </a:extLst>
          </p:cNvPr>
          <p:cNvSpPr txBox="1"/>
          <p:nvPr/>
        </p:nvSpPr>
        <p:spPr>
          <a:xfrm>
            <a:off x="3556000" y="1790700"/>
            <a:ext cx="5080000" cy="3733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2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React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98D0BE-F232-8D87-FEA6-90145FCE0F2F}"/>
              </a:ext>
            </a:extLst>
          </p:cNvPr>
          <p:cNvSpPr txBox="1"/>
          <p:nvPr/>
        </p:nvSpPr>
        <p:spPr>
          <a:xfrm>
            <a:off x="3556000" y="3022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หลังบ้าน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10488E-04B6-7B56-E624-7225809D5BF6}"/>
              </a:ext>
            </a:extLst>
          </p:cNvPr>
          <p:cNvSpPr txBox="1"/>
          <p:nvPr/>
        </p:nvSpPr>
        <p:spPr>
          <a:xfrm>
            <a:off x="3556000" y="3263900"/>
            <a:ext cx="5080000" cy="3733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2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FastAPI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5B00A2-AE8F-71D8-46C6-105E498850F7}"/>
              </a:ext>
            </a:extLst>
          </p:cNvPr>
          <p:cNvSpPr txBox="1"/>
          <p:nvPr/>
        </p:nvSpPr>
        <p:spPr>
          <a:xfrm>
            <a:off x="3556000" y="4495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ฐานข้อมูล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F3AD9B-5A76-BE1F-9CDE-A630C43BAD0E}"/>
              </a:ext>
            </a:extLst>
          </p:cNvPr>
          <p:cNvSpPr txBox="1"/>
          <p:nvPr/>
        </p:nvSpPr>
        <p:spPr>
          <a:xfrm>
            <a:off x="3556000" y="4737100"/>
            <a:ext cx="5080000" cy="3733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2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PostgreSQL 16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0D3597-AA2E-8990-94A2-A30DC8A64164}"/>
              </a:ext>
            </a:extLst>
          </p:cNvPr>
          <p:cNvCxnSpPr/>
          <p:nvPr/>
        </p:nvCxnSpPr>
        <p:spPr>
          <a:xfrm>
            <a:off x="6096000" y="2311400"/>
            <a:ext cx="0" cy="495300"/>
          </a:xfrm>
          <a:prstGeom prst="line">
            <a:avLst/>
          </a:prstGeom>
          <a:ln w="19050">
            <a:solidFill>
              <a:srgbClr val="9FB0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620F0AE-4CFB-93A0-3B9B-05D7BC71A44F}"/>
              </a:ext>
            </a:extLst>
          </p:cNvPr>
          <p:cNvSpPr txBox="1"/>
          <p:nvPr/>
        </p:nvSpPr>
        <p:spPr>
          <a:xfrm>
            <a:off x="6248400" y="24511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ส่งข้อมูลผ่าน </a:t>
            </a: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API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B46D90-97AF-40B7-E2FB-5261AC9016FA}"/>
              </a:ext>
            </a:extLst>
          </p:cNvPr>
          <p:cNvCxnSpPr/>
          <p:nvPr/>
        </p:nvCxnSpPr>
        <p:spPr>
          <a:xfrm>
            <a:off x="6096000" y="3784600"/>
            <a:ext cx="0" cy="495300"/>
          </a:xfrm>
          <a:prstGeom prst="line">
            <a:avLst/>
          </a:prstGeom>
          <a:ln w="19050">
            <a:solidFill>
              <a:srgbClr val="9FB0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B3AA2E-3D10-4E1F-F57D-930D7321C0DF}"/>
              </a:ext>
            </a:extLst>
          </p:cNvPr>
          <p:cNvSpPr txBox="1"/>
          <p:nvPr/>
        </p:nvSpPr>
        <p:spPr>
          <a:xfrm>
            <a:off x="6248400" y="39243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อ่านและเขียนข้อมูล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60F039-A9A1-4AA8-3414-F68D4CC8A535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E582C2-7D4A-6819-4EF7-63CCDB5BE340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05 / 17</a:t>
            </a:r>
          </a:p>
        </p:txBody>
      </p:sp>
    </p:spTree>
    <p:extLst>
      <p:ext uri="{BB962C8B-B14F-4D97-AF65-F5344CB8AC3E}">
        <p14:creationId xmlns:p14="http://schemas.microsoft.com/office/powerpoint/2010/main" val="1555579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00BFE1-3B52-79B6-AA52-470B3EE2AF87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ภาพรวมระบบ</a:t>
            </a:r>
            <a:endParaRPr lang="en-US" sz="32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6F881-BB07-D2EF-F693-87CA8B2178F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0" y="1244600"/>
            <a:ext cx="10077450" cy="472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5D4B00-3DB3-B336-864B-052D932C7610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F3CE0D-0A20-78E1-92D0-AD6647BCFD09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06 / 17</a:t>
            </a:r>
          </a:p>
        </p:txBody>
      </p:sp>
    </p:spTree>
    <p:extLst>
      <p:ext uri="{BB962C8B-B14F-4D97-AF65-F5344CB8AC3E}">
        <p14:creationId xmlns:p14="http://schemas.microsoft.com/office/powerpoint/2010/main" val="163407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C8DFBF-BD53-660E-BC65-6F80BBFD8E46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กระบวนการทำงานหลัก</a:t>
            </a:r>
            <a:endParaRPr lang="en-US" sz="32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C7249-A5C8-C015-F792-6C51EC427C7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524000"/>
            <a:ext cx="10566400" cy="4051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2D844C-B0B0-A7B6-6C78-3C6894E81807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045E65-8A45-B9B9-6A0B-B36B0110E98A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07 / 17</a:t>
            </a:r>
          </a:p>
        </p:txBody>
      </p:sp>
    </p:spTree>
    <p:extLst>
      <p:ext uri="{BB962C8B-B14F-4D97-AF65-F5344CB8AC3E}">
        <p14:creationId xmlns:p14="http://schemas.microsoft.com/office/powerpoint/2010/main" val="1570289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0450C9-3B0F-EEEA-EE97-849CF1C4AF2D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โครงสร้างฐานข้อมูล</a:t>
            </a:r>
            <a:endParaRPr lang="en-US" sz="32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508FF-1375-6BEC-0727-402F5CBFE274}"/>
              </a:ext>
            </a:extLst>
          </p:cNvPr>
          <p:cNvSpPr txBox="1"/>
          <p:nvPr/>
        </p:nvSpPr>
        <p:spPr>
          <a:xfrm>
            <a:off x="812800" y="1498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16 ตาราง แบ่งเป็น 7 กลุ่ม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20559E5-8732-408B-7257-E707EFD0525F}"/>
              </a:ext>
            </a:extLst>
          </p:cNvPr>
          <p:cNvSpPr/>
          <p:nvPr/>
        </p:nvSpPr>
        <p:spPr>
          <a:xfrm>
            <a:off x="812800" y="1930400"/>
            <a:ext cx="127000" cy="127000"/>
          </a:xfrm>
          <a:prstGeom prst="ellipse">
            <a:avLst/>
          </a:prstGeom>
          <a:solidFill>
            <a:srgbClr val="1971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23660-568D-DB84-7BB6-A70E19150FC9}"/>
              </a:ext>
            </a:extLst>
          </p:cNvPr>
          <p:cNvSpPr txBox="1"/>
          <p:nvPr/>
        </p:nvSpPr>
        <p:spPr>
          <a:xfrm>
            <a:off x="1066800" y="1854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ลูกค้า รถ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E70202-66E6-27F4-DDF9-91B63F4121EB}"/>
              </a:ext>
            </a:extLst>
          </p:cNvPr>
          <p:cNvSpPr txBox="1"/>
          <p:nvPr/>
        </p:nvSpPr>
        <p:spPr>
          <a:xfrm>
            <a:off x="3098800" y="18542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21D712-2AB3-BD12-F42E-9FF8B42AD445}"/>
              </a:ext>
            </a:extLst>
          </p:cNvPr>
          <p:cNvSpPr/>
          <p:nvPr/>
        </p:nvSpPr>
        <p:spPr>
          <a:xfrm>
            <a:off x="812800" y="2336800"/>
            <a:ext cx="127000" cy="127000"/>
          </a:xfrm>
          <a:prstGeom prst="ellipse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6382C-5016-1FE4-4E01-9851A44F1D31}"/>
              </a:ext>
            </a:extLst>
          </p:cNvPr>
          <p:cNvSpPr txBox="1"/>
          <p:nvPr/>
        </p:nvSpPr>
        <p:spPr>
          <a:xfrm>
            <a:off x="1066800" y="2260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ใบงาน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DD6C08-9DEC-CB73-0EA6-DBDE2B04947F}"/>
              </a:ext>
            </a:extLst>
          </p:cNvPr>
          <p:cNvSpPr txBox="1"/>
          <p:nvPr/>
        </p:nvSpPr>
        <p:spPr>
          <a:xfrm>
            <a:off x="3098800" y="22606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3EB5FF-AD99-C8B5-66B1-064AD8832831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ellipse">
            <a:avLst/>
          </a:prstGeom>
          <a:solidFill>
            <a:srgbClr val="A61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2DE33-1D6A-4C6D-8273-D02DB8C38C61}"/>
              </a:ext>
            </a:extLst>
          </p:cNvPr>
          <p:cNvSpPr txBox="1"/>
          <p:nvPr/>
        </p:nvSpPr>
        <p:spPr>
          <a:xfrm>
            <a:off x="1066800" y="2667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บิล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16CCA-4B42-A939-DB2E-51FC8EFC6E04}"/>
              </a:ext>
            </a:extLst>
          </p:cNvPr>
          <p:cNvSpPr txBox="1"/>
          <p:nvPr/>
        </p:nvSpPr>
        <p:spPr>
          <a:xfrm>
            <a:off x="3098800" y="26670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0DC1C5-8366-04D9-3DF5-E40AB8F0721F}"/>
              </a:ext>
            </a:extLst>
          </p:cNvPr>
          <p:cNvSpPr/>
          <p:nvPr/>
        </p:nvSpPr>
        <p:spPr>
          <a:xfrm>
            <a:off x="812800" y="3149600"/>
            <a:ext cx="127000" cy="127000"/>
          </a:xfrm>
          <a:prstGeom prst="ellipse">
            <a:avLst/>
          </a:prstGeom>
          <a:solidFill>
            <a:srgbClr val="2B8A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960A26-2A50-43C9-13CE-6BD9BBB55C59}"/>
              </a:ext>
            </a:extLst>
          </p:cNvPr>
          <p:cNvSpPr txBox="1"/>
          <p:nvPr/>
        </p:nvSpPr>
        <p:spPr>
          <a:xfrm>
            <a:off x="1066800" y="30734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สินค้า คลัง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8B005-3C53-C4B7-AA1C-DB516B2400D0}"/>
              </a:ext>
            </a:extLst>
          </p:cNvPr>
          <p:cNvSpPr txBox="1"/>
          <p:nvPr/>
        </p:nvSpPr>
        <p:spPr>
          <a:xfrm>
            <a:off x="3098800" y="3073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57B1203-ADB7-733C-E6CD-C654E133A2C7}"/>
              </a:ext>
            </a:extLst>
          </p:cNvPr>
          <p:cNvSpPr/>
          <p:nvPr/>
        </p:nvSpPr>
        <p:spPr>
          <a:xfrm>
            <a:off x="812800" y="3556000"/>
            <a:ext cx="127000" cy="127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67355C-6239-C96A-D1F4-FA550A69CB8C}"/>
              </a:ext>
            </a:extLst>
          </p:cNvPr>
          <p:cNvSpPr txBox="1"/>
          <p:nvPr/>
        </p:nvSpPr>
        <p:spPr>
          <a:xfrm>
            <a:off x="1066800" y="34798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จัดซื้อ รับของ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83E8F6-6323-A4EA-AB9F-673CADA27405}"/>
              </a:ext>
            </a:extLst>
          </p:cNvPr>
          <p:cNvSpPr txBox="1"/>
          <p:nvPr/>
        </p:nvSpPr>
        <p:spPr>
          <a:xfrm>
            <a:off x="3098800" y="34798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53334F-54DA-007D-909A-D2DC4EEFFE67}"/>
              </a:ext>
            </a:extLst>
          </p:cNvPr>
          <p:cNvSpPr/>
          <p:nvPr/>
        </p:nvSpPr>
        <p:spPr>
          <a:xfrm>
            <a:off x="812800" y="3962400"/>
            <a:ext cx="127000" cy="127000"/>
          </a:xfrm>
          <a:prstGeom prst="ellipse">
            <a:avLst/>
          </a:prstGeom>
          <a:solidFill>
            <a:srgbClr val="862E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9F5C04-14B1-2A2E-8ECC-401C38570FFF}"/>
              </a:ext>
            </a:extLst>
          </p:cNvPr>
          <p:cNvSpPr txBox="1"/>
          <p:nvPr/>
        </p:nvSpPr>
        <p:spPr>
          <a:xfrm>
            <a:off x="1066800" y="3886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เตือนบำรุงรักษา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3A3467-5DB0-CDFE-78D7-37CA6EA0F3AA}"/>
              </a:ext>
            </a:extLst>
          </p:cNvPr>
          <p:cNvSpPr txBox="1"/>
          <p:nvPr/>
        </p:nvSpPr>
        <p:spPr>
          <a:xfrm>
            <a:off x="3098800" y="38862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EA30596-7201-0C5E-A116-5EBE00D7E4C6}"/>
              </a:ext>
            </a:extLst>
          </p:cNvPr>
          <p:cNvSpPr/>
          <p:nvPr/>
        </p:nvSpPr>
        <p:spPr>
          <a:xfrm>
            <a:off x="812800" y="4368800"/>
            <a:ext cx="127000" cy="127000"/>
          </a:xfrm>
          <a:prstGeom prst="ellipse">
            <a:avLst/>
          </a:prstGeom>
          <a:solidFill>
            <a:srgbClr val="4C5A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8DCF6A-9AC5-7323-5B30-B942CC05085D}"/>
              </a:ext>
            </a:extLst>
          </p:cNvPr>
          <p:cNvSpPr txBox="1"/>
          <p:nvPr/>
        </p:nvSpPr>
        <p:spPr>
          <a:xfrm>
            <a:off x="1066800" y="4292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ผู้ใช้ ค่าตั้งอู่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0B833D-4C2A-470F-B2EC-67D0A784A8E7}"/>
              </a:ext>
            </a:extLst>
          </p:cNvPr>
          <p:cNvSpPr txBox="1"/>
          <p:nvPr/>
        </p:nvSpPr>
        <p:spPr>
          <a:xfrm>
            <a:off x="3098800" y="42926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8A276BC-D461-E30C-DAF6-E299EB0D897A}"/>
              </a:ext>
            </a:extLst>
          </p:cNvPr>
          <p:cNvCxnSpPr/>
          <p:nvPr/>
        </p:nvCxnSpPr>
        <p:spPr>
          <a:xfrm>
            <a:off x="812800" y="4775200"/>
            <a:ext cx="2921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9BB96B1-3783-A562-8E7C-E72C816B8B72}"/>
              </a:ext>
            </a:extLst>
          </p:cNvPr>
          <p:cNvSpPr txBox="1"/>
          <p:nvPr/>
        </p:nvSpPr>
        <p:spPr>
          <a:xfrm>
            <a:off x="812800" y="49022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สองหน้าถัดไปขยายให้ดูทีละครึ่ง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5A3CD79-A18D-0E98-2ECD-3A0A521766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050" y="1270000"/>
            <a:ext cx="6407150" cy="4699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3AC5E4F-DAB2-D76F-5B14-8F8200EBCB51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231CEC-E31F-37DC-1E97-76F00B07FB02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08 / 17</a:t>
            </a:r>
          </a:p>
        </p:txBody>
      </p:sp>
    </p:spTree>
    <p:extLst>
      <p:ext uri="{BB962C8B-B14F-4D97-AF65-F5344CB8AC3E}">
        <p14:creationId xmlns:p14="http://schemas.microsoft.com/office/powerpoint/2010/main" val="256786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9FDBDF-C017-4178-F274-F4EDE7B22C57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ความสัมพันธ์ของตาราง ฝั่งงานซ่อมและบิล</a:t>
            </a:r>
            <a:endParaRPr lang="en-US" sz="32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18FCCA-E2DA-36E6-0EF4-33F0CDCC229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396999"/>
            <a:ext cx="10566400" cy="36139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FAD4E5-C430-A8F4-2040-6C0D5B06035D}"/>
              </a:ext>
            </a:extLst>
          </p:cNvPr>
          <p:cNvCxnSpPr/>
          <p:nvPr/>
        </p:nvCxnSpPr>
        <p:spPr>
          <a:xfrm>
            <a:off x="812800" y="50800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961161-B14A-0706-B240-B0288DF5E560}"/>
              </a:ext>
            </a:extLst>
          </p:cNvPr>
          <p:cNvSpPr txBox="1"/>
          <p:nvPr/>
        </p:nvSpPr>
        <p:spPr>
          <a:xfrm>
            <a:off x="812800" y="52197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2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รถหนึ่งคันเข้าซ่อมได้หลายครั้ง แต่มีใบงานค้างได้ใบเดียว</a:t>
            </a:r>
            <a:endParaRPr lang="en-US" sz="12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F375C5-F395-F5C7-161F-6516292FE015}"/>
              </a:ext>
            </a:extLst>
          </p:cNvPr>
          <p:cNvCxnSpPr/>
          <p:nvPr/>
        </p:nvCxnSpPr>
        <p:spPr>
          <a:xfrm>
            <a:off x="4438650" y="50800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2B40F0-796F-AAAC-1980-670D1D14B637}"/>
              </a:ext>
            </a:extLst>
          </p:cNvPr>
          <p:cNvSpPr txBox="1"/>
          <p:nvPr/>
        </p:nvSpPr>
        <p:spPr>
          <a:xfrm>
            <a:off x="4438650" y="52197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2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ใบงานมีช่างหลายคนได้ แต่ช่างหลักมีคนเดียว</a:t>
            </a:r>
            <a:endParaRPr lang="en-US" sz="12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4FCCA5-7B3E-E21D-DC80-BBC832937CAD}"/>
              </a:ext>
            </a:extLst>
          </p:cNvPr>
          <p:cNvCxnSpPr/>
          <p:nvPr/>
        </p:nvCxnSpPr>
        <p:spPr>
          <a:xfrm>
            <a:off x="8064500" y="50800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188119B-F8AF-4052-DC6F-74BF5D1AA4BF}"/>
              </a:ext>
            </a:extLst>
          </p:cNvPr>
          <p:cNvSpPr txBox="1"/>
          <p:nvPr/>
        </p:nvSpPr>
        <p:spPr>
          <a:xfrm>
            <a:off x="8064500" y="52197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2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งานเคลมชี้กลับไปหาบิลเดิมที่ยังอยู่ในประกัน</a:t>
            </a:r>
            <a:endParaRPr lang="en-US" sz="12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A7F82A-CB18-C5EC-5D59-DA034F594E3D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58015-3544-7330-295E-AC20A2BD8D23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09 / 17</a:t>
            </a:r>
          </a:p>
        </p:txBody>
      </p:sp>
    </p:spTree>
    <p:extLst>
      <p:ext uri="{BB962C8B-B14F-4D97-AF65-F5344CB8AC3E}">
        <p14:creationId xmlns:p14="http://schemas.microsoft.com/office/powerpoint/2010/main" val="326690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F0CF2B-7AC0-8477-3443-23245C2D06A3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ความสัมพันธ์ของตาราง ฝั่งสินค้าและจัดซื้อ</a:t>
            </a:r>
            <a:endParaRPr lang="en-US" sz="32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52FD42-ACE1-A411-5354-76859E7A4B0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99"/>
          <a:stretch>
            <a:fillRect/>
          </a:stretch>
        </p:blipFill>
        <p:spPr>
          <a:xfrm>
            <a:off x="812800" y="1295399"/>
            <a:ext cx="10566400" cy="393803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E63330-64EC-5D2D-2E05-2CC409AA21EA}"/>
              </a:ext>
            </a:extLst>
          </p:cNvPr>
          <p:cNvCxnSpPr/>
          <p:nvPr/>
        </p:nvCxnSpPr>
        <p:spPr>
          <a:xfrm>
            <a:off x="812800" y="54991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78AFB0C-422C-31B0-F153-7D13CC202B3B}"/>
              </a:ext>
            </a:extLst>
          </p:cNvPr>
          <p:cNvSpPr txBox="1"/>
          <p:nvPr/>
        </p:nvSpPr>
        <p:spPr>
          <a:xfrm>
            <a:off x="812800" y="56134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2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รับของหนึ่งรอบ ได้ </a:t>
            </a:r>
            <a:r>
              <a:rPr lang="en-US" sz="12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Lot </a:t>
            </a:r>
            <a:r>
              <a:rPr lang="th-TH" sz="12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ใหม่หนึ่ง </a:t>
            </a:r>
            <a:r>
              <a:rPr lang="en-US" sz="12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Lot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90DFEF-240B-72FB-AC83-8AC474A7AA6E}"/>
              </a:ext>
            </a:extLst>
          </p:cNvPr>
          <p:cNvCxnSpPr/>
          <p:nvPr/>
        </p:nvCxnSpPr>
        <p:spPr>
          <a:xfrm>
            <a:off x="4438650" y="54991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C8B904A-20FB-1E62-14E6-0A0CDB5EBA47}"/>
              </a:ext>
            </a:extLst>
          </p:cNvPr>
          <p:cNvSpPr txBox="1"/>
          <p:nvPr/>
        </p:nvSpPr>
        <p:spPr>
          <a:xfrm>
            <a:off x="4438650" y="56134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2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คงเหลือคิดสดจาก </a:t>
            </a:r>
            <a:r>
              <a:rPr lang="en-US" sz="12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Lot </a:t>
            </a:r>
            <a:r>
              <a:rPr lang="th-TH" sz="12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ทุกครั้ง</a:t>
            </a:r>
            <a:endParaRPr lang="en-US" sz="12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8C8B28-FE80-5FE7-39DD-764B3E8AA647}"/>
              </a:ext>
            </a:extLst>
          </p:cNvPr>
          <p:cNvCxnSpPr/>
          <p:nvPr/>
        </p:nvCxnSpPr>
        <p:spPr>
          <a:xfrm>
            <a:off x="8064500" y="54991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F8E0139-C1E5-018F-9753-BC9C1A39F04F}"/>
              </a:ext>
            </a:extLst>
          </p:cNvPr>
          <p:cNvSpPr txBox="1"/>
          <p:nvPr/>
        </p:nvSpPr>
        <p:spPr>
          <a:xfrm>
            <a:off x="8064500" y="56134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2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สมุดสต็อกมีแต่เพิ่ม ไม่แก้ ไม่ลบ</a:t>
            </a:r>
            <a:endParaRPr lang="en-US" sz="12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AC601-B34D-1C61-3ED3-537AB090B4D5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C0630D-7EA2-9C94-86B4-6C77C0B25E11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278703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F5BD4A-CD78-F4D1-DD15-1D5EDDBC429D}"/>
              </a:ext>
            </a:extLst>
          </p:cNvPr>
          <p:cNvSpPr txBox="1"/>
          <p:nvPr/>
        </p:nvSpPr>
        <p:spPr>
          <a:xfrm>
            <a:off x="812800" y="2540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48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สิ่งที่ระบบเข้ามาช่วยจัดการ</a:t>
            </a:r>
            <a:endParaRPr lang="en-US" sz="48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7CF032-CC52-7BB3-957E-23CBA1FBD1D4}"/>
              </a:ext>
            </a:extLst>
          </p:cNvPr>
          <p:cNvCxnSpPr/>
          <p:nvPr/>
        </p:nvCxnSpPr>
        <p:spPr>
          <a:xfrm>
            <a:off x="812800" y="3810000"/>
            <a:ext cx="1930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F2ADC0-F031-4805-CFF1-4DA896916F5B}"/>
              </a:ext>
            </a:extLst>
          </p:cNvPr>
          <p:cNvSpPr txBox="1"/>
          <p:nvPr/>
        </p:nvSpPr>
        <p:spPr>
          <a:xfrm>
            <a:off x="812800" y="39624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4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0503E-AAFA-F310-EBC3-1A1ADED25FD2}"/>
              </a:ext>
            </a:extLst>
          </p:cNvPr>
          <p:cNvSpPr txBox="1"/>
          <p:nvPr/>
        </p:nvSpPr>
        <p:spPr>
          <a:xfrm>
            <a:off x="812800" y="42418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6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ต้นทุนราย </a:t>
            </a:r>
            <a:r>
              <a:rPr lang="en-US" sz="16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Lot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04B452-1CEA-A19B-CCA5-559E6C3F8E14}"/>
              </a:ext>
            </a:extLst>
          </p:cNvPr>
          <p:cNvCxnSpPr/>
          <p:nvPr/>
        </p:nvCxnSpPr>
        <p:spPr>
          <a:xfrm>
            <a:off x="2946400" y="3810000"/>
            <a:ext cx="1930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D8E7BE5-7873-6CB9-5BC7-E75E2D4FF669}"/>
              </a:ext>
            </a:extLst>
          </p:cNvPr>
          <p:cNvSpPr txBox="1"/>
          <p:nvPr/>
        </p:nvSpPr>
        <p:spPr>
          <a:xfrm>
            <a:off x="2946400" y="39624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4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0AE01-79F0-FFCF-5083-C014E4D01C14}"/>
              </a:ext>
            </a:extLst>
          </p:cNvPr>
          <p:cNvSpPr txBox="1"/>
          <p:nvPr/>
        </p:nvSpPr>
        <p:spPr>
          <a:xfrm>
            <a:off x="2946400" y="42418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6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บิลและภาษี</a:t>
            </a:r>
            <a:endParaRPr lang="en-US" sz="16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EC46D9-B415-5E9A-B3B8-A95414BC64CD}"/>
              </a:ext>
            </a:extLst>
          </p:cNvPr>
          <p:cNvCxnSpPr/>
          <p:nvPr/>
        </p:nvCxnSpPr>
        <p:spPr>
          <a:xfrm>
            <a:off x="5080000" y="3810000"/>
            <a:ext cx="1930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1F3A797-30E4-E645-2D10-1AB1DE4B46EF}"/>
              </a:ext>
            </a:extLst>
          </p:cNvPr>
          <p:cNvSpPr txBox="1"/>
          <p:nvPr/>
        </p:nvSpPr>
        <p:spPr>
          <a:xfrm>
            <a:off x="5080000" y="39624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4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7E8E3D-663D-732F-2130-91C90F530FA6}"/>
              </a:ext>
            </a:extLst>
          </p:cNvPr>
          <p:cNvSpPr txBox="1"/>
          <p:nvPr/>
        </p:nvSpPr>
        <p:spPr>
          <a:xfrm>
            <a:off x="5080000" y="42418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6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ประกันและรอบเช็คระยะ</a:t>
            </a:r>
            <a:endParaRPr lang="en-US" sz="16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1A52D7-CC82-4E2B-6D60-F744C742306B}"/>
              </a:ext>
            </a:extLst>
          </p:cNvPr>
          <p:cNvCxnSpPr/>
          <p:nvPr/>
        </p:nvCxnSpPr>
        <p:spPr>
          <a:xfrm>
            <a:off x="7213600" y="3810000"/>
            <a:ext cx="1930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F7C41D4-6127-CC68-C596-0DA9F0A5A46C}"/>
              </a:ext>
            </a:extLst>
          </p:cNvPr>
          <p:cNvSpPr txBox="1"/>
          <p:nvPr/>
        </p:nvSpPr>
        <p:spPr>
          <a:xfrm>
            <a:off x="7213600" y="39624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4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0FE917-33E6-877B-61CC-CE24BC19A826}"/>
              </a:ext>
            </a:extLst>
          </p:cNvPr>
          <p:cNvSpPr txBox="1"/>
          <p:nvPr/>
        </p:nvSpPr>
        <p:spPr>
          <a:xfrm>
            <a:off x="7213600" y="42418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6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งานเคลม</a:t>
            </a:r>
            <a:endParaRPr lang="en-US" sz="16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E053BF6-8DF0-F629-6DD2-B94CD5721E0A}"/>
              </a:ext>
            </a:extLst>
          </p:cNvPr>
          <p:cNvCxnSpPr/>
          <p:nvPr/>
        </p:nvCxnSpPr>
        <p:spPr>
          <a:xfrm>
            <a:off x="9347200" y="3810000"/>
            <a:ext cx="1930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01FBDEB-655F-2EE1-81C0-293C5E9E2B9D}"/>
              </a:ext>
            </a:extLst>
          </p:cNvPr>
          <p:cNvSpPr txBox="1"/>
          <p:nvPr/>
        </p:nvSpPr>
        <p:spPr>
          <a:xfrm>
            <a:off x="9347200" y="39624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4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FC8A36-44AF-26F4-3D95-6DC7C917E3E2}"/>
              </a:ext>
            </a:extLst>
          </p:cNvPr>
          <p:cNvSpPr txBox="1"/>
          <p:nvPr/>
        </p:nvSpPr>
        <p:spPr>
          <a:xfrm>
            <a:off x="9347200" y="42418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6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แดชบอร์ด</a:t>
            </a:r>
            <a:endParaRPr lang="en-US" sz="16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49839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0CC6BA-C9C8-90C1-D3AC-912670087E8B}"/>
              </a:ext>
            </a:extLst>
          </p:cNvPr>
          <p:cNvSpPr/>
          <p:nvPr/>
        </p:nvSpPr>
        <p:spPr>
          <a:xfrm>
            <a:off x="812800" y="1905000"/>
            <a:ext cx="3384550" cy="2095500"/>
          </a:xfrm>
          <a:prstGeom prst="roundRect">
            <a:avLst>
              <a:gd name="adj" fmla="val 4848"/>
            </a:avLst>
          </a:prstGeom>
          <a:solidFill>
            <a:srgbClr val="FCFDFE"/>
          </a:solidFill>
          <a:ln w="9525">
            <a:solidFill>
              <a:srgbClr val="DC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71C06C-9A5F-524C-33F2-2611346357A2}"/>
              </a:ext>
            </a:extLst>
          </p:cNvPr>
          <p:cNvSpPr/>
          <p:nvPr/>
        </p:nvSpPr>
        <p:spPr>
          <a:xfrm>
            <a:off x="4400550" y="1905000"/>
            <a:ext cx="3384550" cy="2095500"/>
          </a:xfrm>
          <a:prstGeom prst="roundRect">
            <a:avLst>
              <a:gd name="adj" fmla="val 4848"/>
            </a:avLst>
          </a:prstGeom>
          <a:solidFill>
            <a:srgbClr val="FCFDFE"/>
          </a:solidFill>
          <a:ln w="9525">
            <a:solidFill>
              <a:srgbClr val="DC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1F008A-9ACA-4A44-4F5E-60C68F89327F}"/>
              </a:ext>
            </a:extLst>
          </p:cNvPr>
          <p:cNvSpPr/>
          <p:nvPr/>
        </p:nvSpPr>
        <p:spPr>
          <a:xfrm>
            <a:off x="7988300" y="1905000"/>
            <a:ext cx="3384550" cy="2095500"/>
          </a:xfrm>
          <a:prstGeom prst="roundRect">
            <a:avLst>
              <a:gd name="adj" fmla="val 4848"/>
            </a:avLst>
          </a:prstGeom>
          <a:noFill/>
          <a:ln w="9525" cap="flat" cmpd="sng" algn="ctr">
            <a:solidFill>
              <a:srgbClr val="C3CCD8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426E8-8A2B-22D6-DF6F-177DEA2AE395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 dirty="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ต้นทุนราย </a:t>
            </a:r>
            <a:r>
              <a:rPr lang="en-US" sz="3200" b="1" dirty="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Lot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A9811-6F12-33F8-4BCB-E28E260A7191}"/>
              </a:ext>
            </a:extLst>
          </p:cNvPr>
          <p:cNvSpPr txBox="1"/>
          <p:nvPr/>
        </p:nvSpPr>
        <p:spPr>
          <a:xfrm>
            <a:off x="812800" y="13335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หัวเทียนรุ่นเดียวกัน ซื้อเข้ามาสองรอบคนละราคา ขายชิ้นละ 200 บาทรวม </a:t>
            </a:r>
            <a:r>
              <a:rPr lang="en-US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VAT </a:t>
            </a:r>
            <a:r>
              <a:rPr lang="th-TH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เท่ากัน</a:t>
            </a:r>
            <a:endParaRPr lang="en-US" sz="15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C57E67-C5F0-5788-07C8-40AE44BBB242}"/>
              </a:ext>
            </a:extLst>
          </p:cNvPr>
          <p:cNvSpPr txBox="1"/>
          <p:nvPr/>
        </p:nvSpPr>
        <p:spPr>
          <a:xfrm>
            <a:off x="1066800" y="2159000"/>
            <a:ext cx="28765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Lot 1 </a:t>
            </a: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ซื้อรอบแรก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5FD522-5D9E-39A8-3A23-8F2D639B121C}"/>
              </a:ext>
            </a:extLst>
          </p:cNvPr>
          <p:cNvSpPr txBox="1"/>
          <p:nvPr/>
        </p:nvSpPr>
        <p:spPr>
          <a:xfrm>
            <a:off x="1066800" y="2451100"/>
            <a:ext cx="28765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ทุนชิ้นละ 80 บาท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C89CF-5887-3CA9-A528-5CCEEB0E8CCE}"/>
              </a:ext>
            </a:extLst>
          </p:cNvPr>
          <p:cNvSpPr txBox="1"/>
          <p:nvPr/>
        </p:nvSpPr>
        <p:spPr>
          <a:xfrm>
            <a:off x="1066800" y="2794000"/>
            <a:ext cx="28765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106.92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E5C37-A7E8-09A4-0F65-8835AFC9F88A}"/>
              </a:ext>
            </a:extLst>
          </p:cNvPr>
          <p:cNvSpPr txBox="1"/>
          <p:nvPr/>
        </p:nvSpPr>
        <p:spPr>
          <a:xfrm>
            <a:off x="1066800" y="3429000"/>
            <a:ext cx="28765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กำไรต่อชิ้น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B683C2-85A7-F712-F9B0-553DC68E36B2}"/>
              </a:ext>
            </a:extLst>
          </p:cNvPr>
          <p:cNvSpPr txBox="1"/>
          <p:nvPr/>
        </p:nvSpPr>
        <p:spPr>
          <a:xfrm>
            <a:off x="4654550" y="2159000"/>
            <a:ext cx="28765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Lot 2 </a:t>
            </a: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ซื้อรอบสอง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CCE2D1-164F-5AA1-0404-1DCCBCF3BE01}"/>
              </a:ext>
            </a:extLst>
          </p:cNvPr>
          <p:cNvSpPr txBox="1"/>
          <p:nvPr/>
        </p:nvSpPr>
        <p:spPr>
          <a:xfrm>
            <a:off x="4654550" y="2451100"/>
            <a:ext cx="28765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ทุนชิ้นละ 120 บาท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8A3939-BF78-45AD-475F-B2FF5606EBDE}"/>
              </a:ext>
            </a:extLst>
          </p:cNvPr>
          <p:cNvSpPr txBox="1"/>
          <p:nvPr/>
        </p:nvSpPr>
        <p:spPr>
          <a:xfrm>
            <a:off x="4654550" y="2794000"/>
            <a:ext cx="28765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66.92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7F184A-817A-2842-EF28-C88680E9191C}"/>
              </a:ext>
            </a:extLst>
          </p:cNvPr>
          <p:cNvSpPr txBox="1"/>
          <p:nvPr/>
        </p:nvSpPr>
        <p:spPr>
          <a:xfrm>
            <a:off x="4654550" y="3429000"/>
            <a:ext cx="28765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กำไรต่อชิ้น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06E04E-273B-02B6-9D03-893C7EDC1EFD}"/>
              </a:ext>
            </a:extLst>
          </p:cNvPr>
          <p:cNvSpPr txBox="1"/>
          <p:nvPr/>
        </p:nvSpPr>
        <p:spPr>
          <a:xfrm>
            <a:off x="8242300" y="2159000"/>
            <a:ext cx="28765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ถ้าใช้ทุนเฉลี่ย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D058CF-2CA5-7B78-41D4-005492273A41}"/>
              </a:ext>
            </a:extLst>
          </p:cNvPr>
          <p:cNvSpPr txBox="1"/>
          <p:nvPr/>
        </p:nvSpPr>
        <p:spPr>
          <a:xfrm>
            <a:off x="8242300" y="2451100"/>
            <a:ext cx="28765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ทุนชิ้นละ 100 บาททุกชิ้น</a:t>
            </a:r>
            <a:endParaRPr lang="en-US" sz="15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F67C68-9C52-C5A7-0DBB-8A69EBE883AC}"/>
              </a:ext>
            </a:extLst>
          </p:cNvPr>
          <p:cNvSpPr txBox="1"/>
          <p:nvPr/>
        </p:nvSpPr>
        <p:spPr>
          <a:xfrm>
            <a:off x="8242300" y="2794000"/>
            <a:ext cx="28765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 b="1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86.92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3F78BB-DF17-8120-15C2-73E541D2752C}"/>
              </a:ext>
            </a:extLst>
          </p:cNvPr>
          <p:cNvSpPr txBox="1"/>
          <p:nvPr/>
        </p:nvSpPr>
        <p:spPr>
          <a:xfrm>
            <a:off x="8242300" y="3429000"/>
            <a:ext cx="28765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เท่ากันหมด ไม่ตรงกับที่จ่ายจริง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71051E-DF31-0D70-DCBF-2020B65E528C}"/>
              </a:ext>
            </a:extLst>
          </p:cNvPr>
          <p:cNvSpPr txBox="1"/>
          <p:nvPr/>
        </p:nvSpPr>
        <p:spPr>
          <a:xfrm>
            <a:off x="812800" y="444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ระบบเบิกจาก </a:t>
            </a:r>
            <a:r>
              <a:rPr lang="en-US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Lot </a:t>
            </a: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เก่าก่อนเสมอ กำไรที่เห็นจึงตรงกับเงินที่จ่ายไปจริงในแต่ละรอบ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A9E913-06F0-32E5-9695-2703F7096B93}"/>
              </a:ext>
            </a:extLst>
          </p:cNvPr>
          <p:cNvSpPr txBox="1"/>
          <p:nvPr/>
        </p:nvSpPr>
        <p:spPr>
          <a:xfrm>
            <a:off x="812800" y="4851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ขาย 200 บาทรวม </a:t>
            </a: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VAT </a:t>
            </a: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เท่ากับ 186.92 บาทก่อน </a:t>
            </a: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VAT </a:t>
            </a: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แล้วค่อยหักทุน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EDBF90-BEEF-0F9F-8B3B-2B6DF32A2D8B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8F45-6AAA-BD43-DAD4-73EE66A5BD34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3692180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27BBCC-3BC5-F7D2-9A5B-B76482C12F27}"/>
              </a:ext>
            </a:extLst>
          </p:cNvPr>
          <p:cNvSpPr/>
          <p:nvPr/>
        </p:nvSpPr>
        <p:spPr>
          <a:xfrm>
            <a:off x="812800" y="4495800"/>
            <a:ext cx="4572000" cy="406400"/>
          </a:xfrm>
          <a:prstGeom prst="rect">
            <a:avLst/>
          </a:prstGeom>
          <a:solidFill>
            <a:srgbClr val="E6ED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A0725-F59D-2914-14F2-797285393BF5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 dirty="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บิลและภาษี</a:t>
            </a:r>
            <a:endParaRPr lang="en-US" sz="3200" b="1" dirty="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6A872-961C-3757-AC26-718DC83EBF37}"/>
              </a:ext>
            </a:extLst>
          </p:cNvPr>
          <p:cNvSpPr txBox="1"/>
          <p:nvPr/>
        </p:nvSpPr>
        <p:spPr>
          <a:xfrm>
            <a:off x="812800" y="13335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ตัวอย่าง ลูกค้าเป็นบริษัท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7A780-A211-7960-2C73-CA8F181E05B7}"/>
              </a:ext>
            </a:extLst>
          </p:cNvPr>
          <p:cNvSpPr txBox="1"/>
          <p:nvPr/>
        </p:nvSpPr>
        <p:spPr>
          <a:xfrm>
            <a:off x="914400" y="17399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รายการ</a:t>
            </a:r>
            <a:endParaRPr lang="en-US" sz="14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13F09-0148-2673-589C-DDA398AC954F}"/>
              </a:ext>
            </a:extLst>
          </p:cNvPr>
          <p:cNvSpPr txBox="1"/>
          <p:nvPr/>
        </p:nvSpPr>
        <p:spPr>
          <a:xfrm>
            <a:off x="4013200" y="17399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th-TH" sz="14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บาท</a:t>
            </a:r>
            <a:endParaRPr lang="en-US" sz="14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1CECF9-EA0B-EAA6-713B-2DEFF1AB8CAA}"/>
              </a:ext>
            </a:extLst>
          </p:cNvPr>
          <p:cNvCxnSpPr/>
          <p:nvPr/>
        </p:nvCxnSpPr>
        <p:spPr>
          <a:xfrm>
            <a:off x="812800" y="2057400"/>
            <a:ext cx="4572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6F21FCE-C61E-E032-8423-DEA8CFA102A1}"/>
              </a:ext>
            </a:extLst>
          </p:cNvPr>
          <p:cNvSpPr txBox="1"/>
          <p:nvPr/>
        </p:nvSpPr>
        <p:spPr>
          <a:xfrm>
            <a:off x="914400" y="21463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อะไหล่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37930-8400-BC37-CD83-D83EEBE847C5}"/>
              </a:ext>
            </a:extLst>
          </p:cNvPr>
          <p:cNvSpPr txBox="1"/>
          <p:nvPr/>
        </p:nvSpPr>
        <p:spPr>
          <a:xfrm>
            <a:off x="4013200" y="21463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3,210.00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4DD171-7D86-DFD1-6F1C-8726ABAA7586}"/>
              </a:ext>
            </a:extLst>
          </p:cNvPr>
          <p:cNvCxnSpPr/>
          <p:nvPr/>
        </p:nvCxnSpPr>
        <p:spPr>
          <a:xfrm>
            <a:off x="812800" y="2463800"/>
            <a:ext cx="4572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41232C5-07AD-76E9-26E4-419B3AD68139}"/>
              </a:ext>
            </a:extLst>
          </p:cNvPr>
          <p:cNvSpPr txBox="1"/>
          <p:nvPr/>
        </p:nvSpPr>
        <p:spPr>
          <a:xfrm>
            <a:off x="914400" y="25527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ค่าแรง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BEF524-03F2-F560-2DE2-E0ACC153C611}"/>
              </a:ext>
            </a:extLst>
          </p:cNvPr>
          <p:cNvSpPr txBox="1"/>
          <p:nvPr/>
        </p:nvSpPr>
        <p:spPr>
          <a:xfrm>
            <a:off x="4013200" y="25527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1,070.00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2F81C3-A3E1-D8F7-A915-C789EF37A423}"/>
              </a:ext>
            </a:extLst>
          </p:cNvPr>
          <p:cNvCxnSpPr/>
          <p:nvPr/>
        </p:nvCxnSpPr>
        <p:spPr>
          <a:xfrm>
            <a:off x="812800" y="2870200"/>
            <a:ext cx="4572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A7D905D-7290-B734-3A37-CE728D987634}"/>
              </a:ext>
            </a:extLst>
          </p:cNvPr>
          <p:cNvSpPr txBox="1"/>
          <p:nvPr/>
        </p:nvSpPr>
        <p:spPr>
          <a:xfrm>
            <a:off x="914400" y="29591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ยอดบิล รวม </a:t>
            </a: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VAT </a:t>
            </a: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แล้ว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39EB4-E7C5-F9BD-61D2-003EEF5AB4D6}"/>
              </a:ext>
            </a:extLst>
          </p:cNvPr>
          <p:cNvSpPr txBox="1"/>
          <p:nvPr/>
        </p:nvSpPr>
        <p:spPr>
          <a:xfrm>
            <a:off x="4013200" y="29591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4,280.00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E8BB348-629E-0BA2-5EAA-0C5787E92864}"/>
              </a:ext>
            </a:extLst>
          </p:cNvPr>
          <p:cNvCxnSpPr/>
          <p:nvPr/>
        </p:nvCxnSpPr>
        <p:spPr>
          <a:xfrm>
            <a:off x="812800" y="3276600"/>
            <a:ext cx="4572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D1FC87A-1B15-438E-892D-62A24A4646DC}"/>
              </a:ext>
            </a:extLst>
          </p:cNvPr>
          <p:cNvSpPr txBox="1"/>
          <p:nvPr/>
        </p:nvSpPr>
        <p:spPr>
          <a:xfrm>
            <a:off x="914400" y="33655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ก่อน </a:t>
            </a: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VAT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6D0735-5B85-8E7F-6A21-5881583D615A}"/>
              </a:ext>
            </a:extLst>
          </p:cNvPr>
          <p:cNvSpPr txBox="1"/>
          <p:nvPr/>
        </p:nvSpPr>
        <p:spPr>
          <a:xfrm>
            <a:off x="4013200" y="33655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4,000.00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46F3A6A-1209-4686-972D-8425888A5E0F}"/>
              </a:ext>
            </a:extLst>
          </p:cNvPr>
          <p:cNvCxnSpPr/>
          <p:nvPr/>
        </p:nvCxnSpPr>
        <p:spPr>
          <a:xfrm>
            <a:off x="812800" y="3683000"/>
            <a:ext cx="4572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6174EED-9921-B3BC-3EF0-A2252958BEBD}"/>
              </a:ext>
            </a:extLst>
          </p:cNvPr>
          <p:cNvSpPr txBox="1"/>
          <p:nvPr/>
        </p:nvSpPr>
        <p:spPr>
          <a:xfrm>
            <a:off x="914400" y="37719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VAT 7%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5C8102-3A6D-AE50-A926-F7985B34940B}"/>
              </a:ext>
            </a:extLst>
          </p:cNvPr>
          <p:cNvSpPr txBox="1"/>
          <p:nvPr/>
        </p:nvSpPr>
        <p:spPr>
          <a:xfrm>
            <a:off x="4013200" y="37719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280.00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54E061-AF8E-4858-FF68-65566A948C74}"/>
              </a:ext>
            </a:extLst>
          </p:cNvPr>
          <p:cNvCxnSpPr/>
          <p:nvPr/>
        </p:nvCxnSpPr>
        <p:spPr>
          <a:xfrm>
            <a:off x="812800" y="4089400"/>
            <a:ext cx="4572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A507705-0354-2B56-390D-1E0DFA41A074}"/>
              </a:ext>
            </a:extLst>
          </p:cNvPr>
          <p:cNvSpPr txBox="1"/>
          <p:nvPr/>
        </p:nvSpPr>
        <p:spPr>
          <a:xfrm>
            <a:off x="914400" y="41783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หัก ณ ที่จ่าย 3% ของค่าแรงก่อน </a:t>
            </a: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VAT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903E58-7D06-A9E2-95D0-49DDC9F21359}"/>
              </a:ext>
            </a:extLst>
          </p:cNvPr>
          <p:cNvSpPr txBox="1"/>
          <p:nvPr/>
        </p:nvSpPr>
        <p:spPr>
          <a:xfrm>
            <a:off x="4013200" y="41783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−30.00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C9F9C2-75F9-9FE6-9AAE-170974905944}"/>
              </a:ext>
            </a:extLst>
          </p:cNvPr>
          <p:cNvCxnSpPr/>
          <p:nvPr/>
        </p:nvCxnSpPr>
        <p:spPr>
          <a:xfrm>
            <a:off x="812800" y="4495800"/>
            <a:ext cx="4572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77CFAC5-5660-640A-5580-87C4250805B3}"/>
              </a:ext>
            </a:extLst>
          </p:cNvPr>
          <p:cNvSpPr txBox="1"/>
          <p:nvPr/>
        </p:nvSpPr>
        <p:spPr>
          <a:xfrm>
            <a:off x="914400" y="45847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ลูกค้าจ่ายจริง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DC2910-97AF-09CD-8815-BD194C9296E5}"/>
              </a:ext>
            </a:extLst>
          </p:cNvPr>
          <p:cNvSpPr txBox="1"/>
          <p:nvPr/>
        </p:nvSpPr>
        <p:spPr>
          <a:xfrm>
            <a:off x="4013200" y="45847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4,250.00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454016D-958C-1F1D-C49F-693CEBC7749D}"/>
              </a:ext>
            </a:extLst>
          </p:cNvPr>
          <p:cNvCxnSpPr/>
          <p:nvPr/>
        </p:nvCxnSpPr>
        <p:spPr>
          <a:xfrm>
            <a:off x="812800" y="4902200"/>
            <a:ext cx="45720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470A7D-0C1C-23BA-2058-385285321E32}"/>
              </a:ext>
            </a:extLst>
          </p:cNvPr>
          <p:cNvCxnSpPr/>
          <p:nvPr/>
        </p:nvCxnSpPr>
        <p:spPr>
          <a:xfrm>
            <a:off x="5892800" y="1587500"/>
            <a:ext cx="548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9323F5-6536-6D3F-B29F-8B8C52F51CA4}"/>
              </a:ext>
            </a:extLst>
          </p:cNvPr>
          <p:cNvSpPr txBox="1"/>
          <p:nvPr/>
        </p:nvSpPr>
        <p:spPr>
          <a:xfrm>
            <a:off x="5892800" y="1727200"/>
            <a:ext cx="548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ราคาที่บอกลูกค้ารวม </a:t>
            </a: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VAT </a:t>
            </a: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แล้ว ระบบถอด </a:t>
            </a: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VAT </a:t>
            </a: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ให้ตอนออกบิล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39F1548-C0A5-07B3-2B96-F746E8758983}"/>
              </a:ext>
            </a:extLst>
          </p:cNvPr>
          <p:cNvCxnSpPr/>
          <p:nvPr/>
        </p:nvCxnSpPr>
        <p:spPr>
          <a:xfrm>
            <a:off x="5892800" y="2298700"/>
            <a:ext cx="548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9CEFE57-A771-06E2-9486-AC13624EF2B2}"/>
              </a:ext>
            </a:extLst>
          </p:cNvPr>
          <p:cNvSpPr txBox="1"/>
          <p:nvPr/>
        </p:nvSpPr>
        <p:spPr>
          <a:xfrm>
            <a:off x="5892800" y="2438400"/>
            <a:ext cx="548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บิลมีแบบย่อกับแบบเต็มรูป เลขเรียงต่อกันห้ามข้าม เริ่มใหม่ทุกปี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B63803E-3B2B-EE06-BB31-90F79A235A4B}"/>
              </a:ext>
            </a:extLst>
          </p:cNvPr>
          <p:cNvCxnSpPr/>
          <p:nvPr/>
        </p:nvCxnSpPr>
        <p:spPr>
          <a:xfrm>
            <a:off x="5892800" y="3009900"/>
            <a:ext cx="548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42B5278-EAD4-1C90-7CF1-62A554258D98}"/>
              </a:ext>
            </a:extLst>
          </p:cNvPr>
          <p:cNvSpPr txBox="1"/>
          <p:nvPr/>
        </p:nvSpPr>
        <p:spPr>
          <a:xfrm>
            <a:off x="5892800" y="3149600"/>
            <a:ext cx="548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ยกเลิกบิลได้ถ้ายังไม่รับเงิน เลขเดิมยังเก็บไว้ให้ตรวจ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D212B5-5224-CD7D-1395-477B02FEC7C5}"/>
              </a:ext>
            </a:extLst>
          </p:cNvPr>
          <p:cNvCxnSpPr/>
          <p:nvPr/>
        </p:nvCxnSpPr>
        <p:spPr>
          <a:xfrm>
            <a:off x="5892800" y="3721100"/>
            <a:ext cx="548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A47E13A-08CD-39A4-63ED-56A4A891593D}"/>
              </a:ext>
            </a:extLst>
          </p:cNvPr>
          <p:cNvSpPr txBox="1"/>
          <p:nvPr/>
        </p:nvSpPr>
        <p:spPr>
          <a:xfrm>
            <a:off x="5892800" y="3860800"/>
            <a:ext cx="548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ซื้อของที่มีใบกำกับ ระบบแยก </a:t>
            </a:r>
            <a:r>
              <a:rPr lang="en-US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VAT </a:t>
            </a: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ซื้อออกจากต้นทุน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E0329C7-B254-8B39-5C19-CDA888A4BE40}"/>
              </a:ext>
            </a:extLst>
          </p:cNvPr>
          <p:cNvCxnSpPr/>
          <p:nvPr/>
        </p:nvCxnSpPr>
        <p:spPr>
          <a:xfrm>
            <a:off x="5892800" y="4432300"/>
            <a:ext cx="548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C3062D6-F377-48EC-EA69-541C2043D200}"/>
              </a:ext>
            </a:extLst>
          </p:cNvPr>
          <p:cNvSpPr txBox="1"/>
          <p:nvPr/>
        </p:nvSpPr>
        <p:spPr>
          <a:xfrm>
            <a:off x="5892800" y="4572000"/>
            <a:ext cx="548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สิ้นเดือนดูภาษีขายกับภาษีซื้อ ไว้ยื่น ภ.พ.30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D3E5966-065A-E81B-7A9C-5DDA95944059}"/>
              </a:ext>
            </a:extLst>
          </p:cNvPr>
          <p:cNvCxnSpPr/>
          <p:nvPr/>
        </p:nvCxnSpPr>
        <p:spPr>
          <a:xfrm>
            <a:off x="5892800" y="5143500"/>
            <a:ext cx="548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A61EB5E-4B63-5D25-E74E-655C4DB0A167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8ADA2C-33E1-7B43-CBDA-BABBA8140AF7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493412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48767-D18C-245E-4AE8-64B4C6D036C0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 dirty="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ประกันและรอบเช็คระยะ</a:t>
            </a:r>
            <a:endParaRPr lang="en-US" sz="3200" b="1" dirty="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4FB161-6C4A-DECB-260E-1087C963F997}"/>
              </a:ext>
            </a:extLst>
          </p:cNvPr>
          <p:cNvSpPr txBox="1"/>
          <p:nvPr/>
        </p:nvSpPr>
        <p:spPr>
          <a:xfrm>
            <a:off x="3098800" y="13462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ประกันงานซ่อม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084AF2-31DE-4D50-7B1A-F42D9ED42F93}"/>
              </a:ext>
            </a:extLst>
          </p:cNvPr>
          <p:cNvSpPr txBox="1"/>
          <p:nvPr/>
        </p:nvSpPr>
        <p:spPr>
          <a:xfrm>
            <a:off x="7239000" y="1346200"/>
            <a:ext cx="414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เตือนบำรุงรักษา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9C392A-D683-27A3-E5DE-24976D7FC482}"/>
              </a:ext>
            </a:extLst>
          </p:cNvPr>
          <p:cNvCxnSpPr/>
          <p:nvPr/>
        </p:nvCxnSpPr>
        <p:spPr>
          <a:xfrm>
            <a:off x="812800" y="16764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C13C91-C755-3735-ED2D-6F943E8F0E37}"/>
              </a:ext>
            </a:extLst>
          </p:cNvPr>
          <p:cNvSpPr txBox="1"/>
          <p:nvPr/>
        </p:nvSpPr>
        <p:spPr>
          <a:xfrm>
            <a:off x="812800" y="17653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ผูกกับ</a:t>
            </a:r>
            <a:endParaRPr lang="en-US" sz="15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0C19C-E39C-6707-4E99-212684AD5554}"/>
              </a:ext>
            </a:extLst>
          </p:cNvPr>
          <p:cNvSpPr txBox="1"/>
          <p:nvPr/>
        </p:nvSpPr>
        <p:spPr>
          <a:xfrm>
            <a:off x="3098800" y="17653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บิลทั้งใบ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9B9F5-4E02-2DCF-C7DD-40BB0564A407}"/>
              </a:ext>
            </a:extLst>
          </p:cNvPr>
          <p:cNvSpPr txBox="1"/>
          <p:nvPr/>
        </p:nvSpPr>
        <p:spPr>
          <a:xfrm>
            <a:off x="7239000" y="1765300"/>
            <a:ext cx="414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รถ กับอะไหล่แต่ละตัว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C25EF0-3FAB-1244-8848-21FDAF88B047}"/>
              </a:ext>
            </a:extLst>
          </p:cNvPr>
          <p:cNvCxnSpPr/>
          <p:nvPr/>
        </p:nvCxnSpPr>
        <p:spPr>
          <a:xfrm>
            <a:off x="812800" y="20955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63DC09-11D2-FECF-8CA1-A32958ECC473}"/>
              </a:ext>
            </a:extLst>
          </p:cNvPr>
          <p:cNvSpPr txBox="1"/>
          <p:nvPr/>
        </p:nvSpPr>
        <p:spPr>
          <a:xfrm>
            <a:off x="812800" y="2184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นับเป็น</a:t>
            </a:r>
            <a:endParaRPr lang="en-US" sz="15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1DA7C-4984-B1F0-AC82-93AB7BE90E98}"/>
              </a:ext>
            </a:extLst>
          </p:cNvPr>
          <p:cNvSpPr txBox="1"/>
          <p:nvPr/>
        </p:nvSpPr>
        <p:spPr>
          <a:xfrm>
            <a:off x="3098800" y="21844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วัน ตั้งค่าเดียวทั้งอู่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84F15A-414A-4755-60B7-91440A393F5F}"/>
              </a:ext>
            </a:extLst>
          </p:cNvPr>
          <p:cNvSpPr txBox="1"/>
          <p:nvPr/>
        </p:nvSpPr>
        <p:spPr>
          <a:xfrm>
            <a:off x="7239000" y="2184400"/>
            <a:ext cx="414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เดือน ตั้งที่สินค้าแต่ละตัว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8BBD2A-9CF3-205C-4303-F74BBA290FB5}"/>
              </a:ext>
            </a:extLst>
          </p:cNvPr>
          <p:cNvCxnSpPr/>
          <p:nvPr/>
        </p:nvCxnSpPr>
        <p:spPr>
          <a:xfrm>
            <a:off x="812800" y="25146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3622CAE-F2FA-9E70-B9C0-1756ACE12948}"/>
              </a:ext>
            </a:extLst>
          </p:cNvPr>
          <p:cNvSpPr txBox="1"/>
          <p:nvPr/>
        </p:nvSpPr>
        <p:spPr>
          <a:xfrm>
            <a:off x="812800" y="26035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ใครเริ่ม</a:t>
            </a:r>
            <a:endParaRPr lang="en-US" sz="15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9B48FD-0D5B-BF74-623A-203CE9B7BC83}"/>
              </a:ext>
            </a:extLst>
          </p:cNvPr>
          <p:cNvSpPr txBox="1"/>
          <p:nvPr/>
        </p:nvSpPr>
        <p:spPr>
          <a:xfrm>
            <a:off x="3098800" y="26035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ลูกค้ากลับมาเอง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A9AC7A-1792-FD96-DCE2-1BB18A0279A8}"/>
              </a:ext>
            </a:extLst>
          </p:cNvPr>
          <p:cNvSpPr txBox="1"/>
          <p:nvPr/>
        </p:nvSpPr>
        <p:spPr>
          <a:xfrm>
            <a:off x="7239000" y="2603500"/>
            <a:ext cx="414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อู่โทรหาลูกค้า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AC7C24-642E-99AC-2419-CA233AF9F56E}"/>
              </a:ext>
            </a:extLst>
          </p:cNvPr>
          <p:cNvCxnSpPr/>
          <p:nvPr/>
        </p:nvCxnSpPr>
        <p:spPr>
          <a:xfrm>
            <a:off x="812800" y="29337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40AF2D2-6976-CB91-E03C-BB33DFA050B1}"/>
              </a:ext>
            </a:extLst>
          </p:cNvPr>
          <p:cNvSpPr txBox="1"/>
          <p:nvPr/>
        </p:nvSpPr>
        <p:spPr>
          <a:xfrm>
            <a:off x="812800" y="30226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ถึงเวลาแล้ว</a:t>
            </a:r>
            <a:endParaRPr lang="en-US" sz="15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BA2010-F0F9-0EA5-CCF6-CD06113B51F5}"/>
              </a:ext>
            </a:extLst>
          </p:cNvPr>
          <p:cNvSpPr txBox="1"/>
          <p:nvPr/>
        </p:nvSpPr>
        <p:spPr>
          <a:xfrm>
            <a:off x="3098800" y="30226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เปิดงานเคลม ซ่อมฟรี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F0465F-C5E7-35E0-CB1D-3E7383AC7C2E}"/>
              </a:ext>
            </a:extLst>
          </p:cNvPr>
          <p:cNvSpPr txBox="1"/>
          <p:nvPr/>
        </p:nvSpPr>
        <p:spPr>
          <a:xfrm>
            <a:off x="7239000" y="3022600"/>
            <a:ext cx="414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ขึ้นรายชื่อให้โทรตาม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4B4CCB8-91E4-F955-DE84-28BD14059F7C}"/>
              </a:ext>
            </a:extLst>
          </p:cNvPr>
          <p:cNvCxnSpPr/>
          <p:nvPr/>
        </p:nvCxnSpPr>
        <p:spPr>
          <a:xfrm>
            <a:off x="812800" y="33528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266C6B2-F168-F4E3-F94A-57BE0DFEE715}"/>
              </a:ext>
            </a:extLst>
          </p:cNvPr>
          <p:cNvSpPr txBox="1"/>
          <p:nvPr/>
        </p:nvSpPr>
        <p:spPr>
          <a:xfrm>
            <a:off x="812800" y="3886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ตัวอย่าง เปลี่ยนน้ำมันเครื่อง ประกัน 30 วัน รอบเปลี่ยน 6 เดือน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43B1BF-B2F3-2873-E0A9-F27BA573C3A2}"/>
              </a:ext>
            </a:extLst>
          </p:cNvPr>
          <p:cNvCxnSpPr/>
          <p:nvPr/>
        </p:nvCxnSpPr>
        <p:spPr>
          <a:xfrm>
            <a:off x="876300" y="4394200"/>
            <a:ext cx="7048500" cy="0"/>
          </a:xfrm>
          <a:prstGeom prst="line">
            <a:avLst/>
          </a:prstGeom>
          <a:ln w="1905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3986059-519B-7036-77AD-9C441D05DD33}"/>
              </a:ext>
            </a:extLst>
          </p:cNvPr>
          <p:cNvSpPr/>
          <p:nvPr/>
        </p:nvSpPr>
        <p:spPr>
          <a:xfrm>
            <a:off x="812800" y="4330700"/>
            <a:ext cx="127000" cy="127000"/>
          </a:xfrm>
          <a:prstGeom prst="ellipse">
            <a:avLst/>
          </a:prstGeom>
          <a:solidFill>
            <a:srgbClr val="3B5B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0AA6B9-5BF8-B916-12DF-730D2E110C70}"/>
              </a:ext>
            </a:extLst>
          </p:cNvPr>
          <p:cNvSpPr txBox="1"/>
          <p:nvPr/>
        </p:nvSpPr>
        <p:spPr>
          <a:xfrm>
            <a:off x="812800" y="4597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 ม.ค.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6344AA-0202-1EE7-296B-C9FC7088DD60}"/>
              </a:ext>
            </a:extLst>
          </p:cNvPr>
          <p:cNvSpPr txBox="1"/>
          <p:nvPr/>
        </p:nvSpPr>
        <p:spPr>
          <a:xfrm>
            <a:off x="812800" y="4851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รับเงิน เริ่มนับทั้งสองอย่าง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52F9BFB-C9E9-5667-50F4-161A1728EA91}"/>
              </a:ext>
            </a:extLst>
          </p:cNvPr>
          <p:cNvSpPr/>
          <p:nvPr/>
        </p:nvSpPr>
        <p:spPr>
          <a:xfrm>
            <a:off x="4337050" y="4330700"/>
            <a:ext cx="127000" cy="127000"/>
          </a:xfrm>
          <a:prstGeom prst="ellipse">
            <a:avLst/>
          </a:prstGeom>
          <a:solidFill>
            <a:srgbClr val="3B5B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A251F7-6512-C971-44ED-EF5D8C3FCF74}"/>
              </a:ext>
            </a:extLst>
          </p:cNvPr>
          <p:cNvSpPr txBox="1"/>
          <p:nvPr/>
        </p:nvSpPr>
        <p:spPr>
          <a:xfrm>
            <a:off x="4337050" y="4597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31 ม.ค.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74B7F2-8F1A-5302-00C8-88CE78740634}"/>
              </a:ext>
            </a:extLst>
          </p:cNvPr>
          <p:cNvSpPr txBox="1"/>
          <p:nvPr/>
        </p:nvSpPr>
        <p:spPr>
          <a:xfrm>
            <a:off x="4337050" y="4851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ประกันงานซ่อมหมด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8C6C061-151E-73EE-A7A7-61F0981385A9}"/>
              </a:ext>
            </a:extLst>
          </p:cNvPr>
          <p:cNvSpPr/>
          <p:nvPr/>
        </p:nvSpPr>
        <p:spPr>
          <a:xfrm>
            <a:off x="7861300" y="4330700"/>
            <a:ext cx="127000" cy="127000"/>
          </a:xfrm>
          <a:prstGeom prst="ellipse">
            <a:avLst/>
          </a:prstGeom>
          <a:solidFill>
            <a:srgbClr val="3B5B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A2A14A-C289-202E-BE3E-1B04E60147BE}"/>
              </a:ext>
            </a:extLst>
          </p:cNvPr>
          <p:cNvSpPr txBox="1"/>
          <p:nvPr/>
        </p:nvSpPr>
        <p:spPr>
          <a:xfrm>
            <a:off x="7861300" y="4597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 ก.ค.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2FC0A7-E567-73B9-FB37-0CDFE91E4C7D}"/>
              </a:ext>
            </a:extLst>
          </p:cNvPr>
          <p:cNvSpPr txBox="1"/>
          <p:nvPr/>
        </p:nvSpPr>
        <p:spPr>
          <a:xfrm>
            <a:off x="7861300" y="4851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ถึงรอบเปลี่ยน อู่โทรหาลูกค้า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ABE54E-5423-47E7-9E15-B53EF4CACA1B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24692C-1662-B3F1-6DFB-E866D6A5BC90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775377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061EF0-B5D7-3BD7-6B17-C079BB0F41D6}"/>
              </a:ext>
            </a:extLst>
          </p:cNvPr>
          <p:cNvSpPr/>
          <p:nvPr/>
        </p:nvSpPr>
        <p:spPr>
          <a:xfrm>
            <a:off x="812800" y="1905000"/>
            <a:ext cx="2489200" cy="1460500"/>
          </a:xfrm>
          <a:prstGeom prst="roundRect">
            <a:avLst>
              <a:gd name="adj" fmla="val 6957"/>
            </a:avLst>
          </a:prstGeom>
          <a:solidFill>
            <a:srgbClr val="FCFDFE"/>
          </a:solidFill>
          <a:ln w="9525">
            <a:solidFill>
              <a:srgbClr val="DC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C9808D-A0AC-6036-BF5B-E89B0A00B8B9}"/>
              </a:ext>
            </a:extLst>
          </p:cNvPr>
          <p:cNvSpPr/>
          <p:nvPr/>
        </p:nvSpPr>
        <p:spPr>
          <a:xfrm>
            <a:off x="3505200" y="1905000"/>
            <a:ext cx="2489200" cy="1460500"/>
          </a:xfrm>
          <a:prstGeom prst="roundRect">
            <a:avLst>
              <a:gd name="adj" fmla="val 6957"/>
            </a:avLst>
          </a:prstGeom>
          <a:solidFill>
            <a:srgbClr val="FCFDFE"/>
          </a:solidFill>
          <a:ln w="9525">
            <a:solidFill>
              <a:srgbClr val="DC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23FCC8-33A8-D95A-018A-69216B8A53A6}"/>
              </a:ext>
            </a:extLst>
          </p:cNvPr>
          <p:cNvSpPr/>
          <p:nvPr/>
        </p:nvSpPr>
        <p:spPr>
          <a:xfrm>
            <a:off x="6197600" y="1905000"/>
            <a:ext cx="2489200" cy="1460500"/>
          </a:xfrm>
          <a:prstGeom prst="roundRect">
            <a:avLst>
              <a:gd name="adj" fmla="val 6957"/>
            </a:avLst>
          </a:prstGeom>
          <a:solidFill>
            <a:srgbClr val="FCFDFE"/>
          </a:solidFill>
          <a:ln w="9525">
            <a:solidFill>
              <a:srgbClr val="DC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187133-505E-8FAB-D2D2-41D704D21256}"/>
              </a:ext>
            </a:extLst>
          </p:cNvPr>
          <p:cNvSpPr/>
          <p:nvPr/>
        </p:nvSpPr>
        <p:spPr>
          <a:xfrm>
            <a:off x="8890000" y="1905000"/>
            <a:ext cx="2489200" cy="1460500"/>
          </a:xfrm>
          <a:prstGeom prst="roundRect">
            <a:avLst>
              <a:gd name="adj" fmla="val 6957"/>
            </a:avLst>
          </a:prstGeom>
          <a:solidFill>
            <a:srgbClr val="FCFDFE"/>
          </a:solidFill>
          <a:ln w="9525">
            <a:solidFill>
              <a:srgbClr val="DC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84B36-7301-4EC1-95C9-5387825F3CA1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 dirty="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งานเคลม</a:t>
            </a:r>
            <a:endParaRPr lang="en-US" sz="3200" b="1" dirty="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33E59-ABD2-8A1D-5EB5-3B7F75CD3CC0}"/>
              </a:ext>
            </a:extLst>
          </p:cNvPr>
          <p:cNvSpPr txBox="1"/>
          <p:nvPr/>
        </p:nvSpPr>
        <p:spPr>
          <a:xfrm>
            <a:off x="812800" y="13335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รถกลับมาเพราะงานที่อู่ซ่อมไปยังมีปัญหา และยังอยู่ในประกัน อู่ซ่อมให้ฟรี</a:t>
            </a:r>
            <a:endParaRPr lang="en-US" sz="15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54A6C-665D-3CD6-3AA6-0C474A67E68E}"/>
              </a:ext>
            </a:extLst>
          </p:cNvPr>
          <p:cNvSpPr txBox="1"/>
          <p:nvPr/>
        </p:nvSpPr>
        <p:spPr>
          <a:xfrm>
            <a:off x="1041400" y="2133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2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B821B-CD3B-1589-676E-F1F3FC09A7DD}"/>
              </a:ext>
            </a:extLst>
          </p:cNvPr>
          <p:cNvSpPr txBox="1"/>
          <p:nvPr/>
        </p:nvSpPr>
        <p:spPr>
          <a:xfrm>
            <a:off x="1041400" y="2413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เลือกบิลเดิม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65038-BF60-213E-4943-E6E17EF139BB}"/>
              </a:ext>
            </a:extLst>
          </p:cNvPr>
          <p:cNvSpPr txBox="1"/>
          <p:nvPr/>
        </p:nvSpPr>
        <p:spPr>
          <a:xfrm>
            <a:off x="1041400" y="2743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กรอกอาการที่กลับมา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AE8B52-8FF2-1A5E-4ED8-353AD545D684}"/>
              </a:ext>
            </a:extLst>
          </p:cNvPr>
          <p:cNvCxnSpPr/>
          <p:nvPr/>
        </p:nvCxnSpPr>
        <p:spPr>
          <a:xfrm>
            <a:off x="3327400" y="2635250"/>
            <a:ext cx="152400" cy="0"/>
          </a:xfrm>
          <a:prstGeom prst="line">
            <a:avLst/>
          </a:prstGeom>
          <a:ln w="19050">
            <a:solidFill>
              <a:srgbClr val="9FB0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5F3294C-5D96-B0BB-0F2B-A4F366615467}"/>
              </a:ext>
            </a:extLst>
          </p:cNvPr>
          <p:cNvSpPr txBox="1"/>
          <p:nvPr/>
        </p:nvSpPr>
        <p:spPr>
          <a:xfrm>
            <a:off x="3733800" y="2133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2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07A04F-22CB-BFBF-B1E0-A7FCCC612F69}"/>
              </a:ext>
            </a:extLst>
          </p:cNvPr>
          <p:cNvSpPr txBox="1"/>
          <p:nvPr/>
        </p:nvSpPr>
        <p:spPr>
          <a:xfrm>
            <a:off x="3733800" y="2413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ใส่อะไหล่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A5907-1E85-4A3D-2D0F-6E9B7B45D93A}"/>
              </a:ext>
            </a:extLst>
          </p:cNvPr>
          <p:cNvSpPr txBox="1"/>
          <p:nvPr/>
        </p:nvSpPr>
        <p:spPr>
          <a:xfrm>
            <a:off x="3733800" y="2743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ราคากลายเป็น 0 เอง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07B6C9-A077-8FDB-BB2C-8F1889BF4DCC}"/>
              </a:ext>
            </a:extLst>
          </p:cNvPr>
          <p:cNvCxnSpPr/>
          <p:nvPr/>
        </p:nvCxnSpPr>
        <p:spPr>
          <a:xfrm>
            <a:off x="6019800" y="2635250"/>
            <a:ext cx="152400" cy="0"/>
          </a:xfrm>
          <a:prstGeom prst="line">
            <a:avLst/>
          </a:prstGeom>
          <a:ln w="19050">
            <a:solidFill>
              <a:srgbClr val="9FB0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F87E0E2-4E7B-B01F-2982-CAA8048647E5}"/>
              </a:ext>
            </a:extLst>
          </p:cNvPr>
          <p:cNvSpPr txBox="1"/>
          <p:nvPr/>
        </p:nvSpPr>
        <p:spPr>
          <a:xfrm>
            <a:off x="6426200" y="2133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2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AA6423-FDD1-C53D-1390-3D7DF4B314B5}"/>
              </a:ext>
            </a:extLst>
          </p:cNvPr>
          <p:cNvSpPr txBox="1"/>
          <p:nvPr/>
        </p:nvSpPr>
        <p:spPr>
          <a:xfrm>
            <a:off x="6426200" y="2413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พนักงานยืนยัน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E8D2AC-1AC0-5F81-6A3D-31DF93F51740}"/>
              </a:ext>
            </a:extLst>
          </p:cNvPr>
          <p:cNvSpPr txBox="1"/>
          <p:nvPr/>
        </p:nvSpPr>
        <p:spPr>
          <a:xfrm>
            <a:off x="6426200" y="2743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ตัดของจากคลังจริง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3AEE72-18E5-295D-4037-8CC347BD9444}"/>
              </a:ext>
            </a:extLst>
          </p:cNvPr>
          <p:cNvCxnSpPr/>
          <p:nvPr/>
        </p:nvCxnSpPr>
        <p:spPr>
          <a:xfrm>
            <a:off x="8712200" y="2635250"/>
            <a:ext cx="152400" cy="0"/>
          </a:xfrm>
          <a:prstGeom prst="line">
            <a:avLst/>
          </a:prstGeom>
          <a:ln w="19050">
            <a:solidFill>
              <a:srgbClr val="9FB0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F93C0D1-4DC2-C1F5-B930-400330DDE8E4}"/>
              </a:ext>
            </a:extLst>
          </p:cNvPr>
          <p:cNvSpPr txBox="1"/>
          <p:nvPr/>
        </p:nvSpPr>
        <p:spPr>
          <a:xfrm>
            <a:off x="9118600" y="2133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2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3D091F-2A64-4A13-CFF3-885E867F82AC}"/>
              </a:ext>
            </a:extLst>
          </p:cNvPr>
          <p:cNvSpPr txBox="1"/>
          <p:nvPr/>
        </p:nvSpPr>
        <p:spPr>
          <a:xfrm>
            <a:off x="9118600" y="2413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5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ออกบิลยอด 0</a:t>
            </a:r>
            <a:endParaRPr lang="en-US" sz="15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1DA4DE-197F-8F1F-C3C5-0653FCA89E3B}"/>
              </a:ext>
            </a:extLst>
          </p:cNvPr>
          <p:cNvSpPr txBox="1"/>
          <p:nvPr/>
        </p:nvSpPr>
        <p:spPr>
          <a:xfrm>
            <a:off x="9118600" y="2743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ส่งมอบรถ ปิดงาน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2C7887-8692-BF6B-2C2F-74FDAA392382}"/>
              </a:ext>
            </a:extLst>
          </p:cNvPr>
          <p:cNvCxnSpPr/>
          <p:nvPr/>
        </p:nvCxnSpPr>
        <p:spPr>
          <a:xfrm>
            <a:off x="812800" y="40640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6639983-3BD1-3326-F635-9889C8DDCFC1}"/>
              </a:ext>
            </a:extLst>
          </p:cNvPr>
          <p:cNvSpPr txBox="1"/>
          <p:nvPr/>
        </p:nvSpPr>
        <p:spPr>
          <a:xfrm>
            <a:off x="812800" y="42164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เปิดได้ถ้ายังไม่เลยวันหมดประกันของบิลเดิม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CEDA651-49EF-F855-B170-9B9E8432745C}"/>
              </a:ext>
            </a:extLst>
          </p:cNvPr>
          <p:cNvCxnSpPr/>
          <p:nvPr/>
        </p:nvCxnSpPr>
        <p:spPr>
          <a:xfrm>
            <a:off x="4438650" y="40640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7F2E2DA-1374-2FA9-DD7B-1D17A404813B}"/>
              </a:ext>
            </a:extLst>
          </p:cNvPr>
          <p:cNvSpPr txBox="1"/>
          <p:nvPr/>
        </p:nvSpPr>
        <p:spPr>
          <a:xfrm>
            <a:off x="4438650" y="42164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เคลมแล้ว ประกันไม่เริ่มนับใหม่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22CEDA-8AAD-1E00-9550-5E1075F43E23}"/>
              </a:ext>
            </a:extLst>
          </p:cNvPr>
          <p:cNvCxnSpPr/>
          <p:nvPr/>
        </p:nvCxnSpPr>
        <p:spPr>
          <a:xfrm>
            <a:off x="8064500" y="40640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BF0FA0A-7D64-0FAD-A47D-295AE030B8EB}"/>
              </a:ext>
            </a:extLst>
          </p:cNvPr>
          <p:cNvSpPr txBox="1"/>
          <p:nvPr/>
        </p:nvSpPr>
        <p:spPr>
          <a:xfrm>
            <a:off x="8064500" y="42164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ต้นทุนเคลมนับจริง กำไรของงานนี้จึงติดลบ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CA4726-043A-9A99-FD7D-CD6112EF0E58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56E6AA-B0A7-90E3-81FC-9D09DFAF6FFA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4208459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5D29EC-4F13-82A7-C159-73268D271283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 dirty="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แดชบอร์ด</a:t>
            </a:r>
            <a:endParaRPr lang="en-US" sz="3200" b="1" dirty="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ECDCE-CB5E-0CAC-61CD-480F0427DECD}"/>
              </a:ext>
            </a:extLst>
          </p:cNvPr>
          <p:cNvSpPr txBox="1"/>
          <p:nvPr/>
        </p:nvSpPr>
        <p:spPr>
          <a:xfrm>
            <a:off x="812800" y="13335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เปิดหน้าแรกแล้วเห็นคำตอบของคำถามพวกนี้</a:t>
            </a:r>
            <a:endParaRPr lang="en-US" sz="15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A91CEC-16B8-5EE0-4B0D-C032B7C0E0B9}"/>
              </a:ext>
            </a:extLst>
          </p:cNvPr>
          <p:cNvCxnSpPr/>
          <p:nvPr/>
        </p:nvCxnSpPr>
        <p:spPr>
          <a:xfrm>
            <a:off x="812800" y="19050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02FB144-DCF7-D93D-BA28-9998C8CBFF34}"/>
              </a:ext>
            </a:extLst>
          </p:cNvPr>
          <p:cNvSpPr txBox="1"/>
          <p:nvPr/>
        </p:nvSpPr>
        <p:spPr>
          <a:xfrm>
            <a:off x="812800" y="2082800"/>
            <a:ext cx="444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3E6626-54F0-F87E-8A5B-523BDFC86CF3}"/>
              </a:ext>
            </a:extLst>
          </p:cNvPr>
          <p:cNvSpPr txBox="1"/>
          <p:nvPr/>
        </p:nvSpPr>
        <p:spPr>
          <a:xfrm>
            <a:off x="1257300" y="20574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วันนี้ขายได้เท่าไร กำไรเท่าไร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6C3537-0F37-8EEA-07A5-440E4C6E4087}"/>
              </a:ext>
            </a:extLst>
          </p:cNvPr>
          <p:cNvCxnSpPr/>
          <p:nvPr/>
        </p:nvCxnSpPr>
        <p:spPr>
          <a:xfrm>
            <a:off x="4438650" y="19050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51B3C35-163F-4655-E82B-26914999269A}"/>
              </a:ext>
            </a:extLst>
          </p:cNvPr>
          <p:cNvSpPr txBox="1"/>
          <p:nvPr/>
        </p:nvSpPr>
        <p:spPr>
          <a:xfrm>
            <a:off x="4438650" y="2082800"/>
            <a:ext cx="444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4C7DC6-1C1B-017B-0120-6ABAACA1E37E}"/>
              </a:ext>
            </a:extLst>
          </p:cNvPr>
          <p:cNvSpPr txBox="1"/>
          <p:nvPr/>
        </p:nvSpPr>
        <p:spPr>
          <a:xfrm>
            <a:off x="4883150" y="20574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รถคันไหนอยู่ขั้นไหน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2336B2-DB30-7FA2-1253-20F60F125F9E}"/>
              </a:ext>
            </a:extLst>
          </p:cNvPr>
          <p:cNvCxnSpPr/>
          <p:nvPr/>
        </p:nvCxnSpPr>
        <p:spPr>
          <a:xfrm>
            <a:off x="8064500" y="19050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2ACCD07-D442-479D-6D64-7C3AAF691018}"/>
              </a:ext>
            </a:extLst>
          </p:cNvPr>
          <p:cNvSpPr txBox="1"/>
          <p:nvPr/>
        </p:nvSpPr>
        <p:spPr>
          <a:xfrm>
            <a:off x="8064500" y="2082800"/>
            <a:ext cx="444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38678A-1330-04AD-F6EF-3834A9384A44}"/>
              </a:ext>
            </a:extLst>
          </p:cNvPr>
          <p:cNvSpPr txBox="1"/>
          <p:nvPr/>
        </p:nvSpPr>
        <p:spPr>
          <a:xfrm>
            <a:off x="8509000" y="20574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ของอะไรใกล้หมด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3EADD8-4D46-F1A2-544F-6EDB449DE58A}"/>
              </a:ext>
            </a:extLst>
          </p:cNvPr>
          <p:cNvCxnSpPr/>
          <p:nvPr/>
        </p:nvCxnSpPr>
        <p:spPr>
          <a:xfrm>
            <a:off x="812800" y="30480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B97923-87F8-506A-2236-88F6F6F571A1}"/>
              </a:ext>
            </a:extLst>
          </p:cNvPr>
          <p:cNvSpPr txBox="1"/>
          <p:nvPr/>
        </p:nvSpPr>
        <p:spPr>
          <a:xfrm>
            <a:off x="812800" y="3225800"/>
            <a:ext cx="444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1E74E1-C521-ECFD-A5DF-F096E6A70C6F}"/>
              </a:ext>
            </a:extLst>
          </p:cNvPr>
          <p:cNvSpPr txBox="1"/>
          <p:nvPr/>
        </p:nvSpPr>
        <p:spPr>
          <a:xfrm>
            <a:off x="1257300" y="32004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ของอะไรค้างคลังเกิน 90 วัน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F627634-5501-41D7-BE78-87BEE7B2EBCC}"/>
              </a:ext>
            </a:extLst>
          </p:cNvPr>
          <p:cNvCxnSpPr/>
          <p:nvPr/>
        </p:nvCxnSpPr>
        <p:spPr>
          <a:xfrm>
            <a:off x="4438650" y="30480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088E41-6207-94AB-C0B2-5715D70327AD}"/>
              </a:ext>
            </a:extLst>
          </p:cNvPr>
          <p:cNvSpPr txBox="1"/>
          <p:nvPr/>
        </p:nvSpPr>
        <p:spPr>
          <a:xfrm>
            <a:off x="4438650" y="3225800"/>
            <a:ext cx="444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FE5D23-7563-B75E-F383-3F1A9925DD58}"/>
              </a:ext>
            </a:extLst>
          </p:cNvPr>
          <p:cNvSpPr txBox="1"/>
          <p:nvPr/>
        </p:nvSpPr>
        <p:spPr>
          <a:xfrm>
            <a:off x="4883150" y="32004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วันนี้ต้องโทรหาลูกค้าคนไหน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2C53E35-A693-4620-01C3-3030F49B5E43}"/>
              </a:ext>
            </a:extLst>
          </p:cNvPr>
          <p:cNvCxnSpPr/>
          <p:nvPr/>
        </p:nvCxnSpPr>
        <p:spPr>
          <a:xfrm>
            <a:off x="8064500" y="3048000"/>
            <a:ext cx="33147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3BB006A-3444-F264-BA47-DD004C90AD0A}"/>
              </a:ext>
            </a:extLst>
          </p:cNvPr>
          <p:cNvSpPr txBox="1"/>
          <p:nvPr/>
        </p:nvSpPr>
        <p:spPr>
          <a:xfrm>
            <a:off x="8064500" y="3225800"/>
            <a:ext cx="444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1500" b="1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06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24F364-4A95-E60D-D3DB-29D010EE5651}"/>
              </a:ext>
            </a:extLst>
          </p:cNvPr>
          <p:cNvSpPr txBox="1"/>
          <p:nvPr/>
        </p:nvSpPr>
        <p:spPr>
          <a:xfrm>
            <a:off x="8509000" y="32004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th-TH" sz="15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เดือนนี้ช่างแต่ละคนปิดงานกี่คัน</a:t>
            </a:r>
            <a:endParaRPr lang="en-US" sz="15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9D06EB-5CD0-2A47-FCB6-C8418C24128A}"/>
              </a:ext>
            </a:extLst>
          </p:cNvPr>
          <p:cNvSpPr txBox="1"/>
          <p:nvPr/>
        </p:nvSpPr>
        <p:spPr>
          <a:xfrm>
            <a:off x="812800" y="444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ยอดเงินกับกำไรเห็นเฉพาะเจ้าของอู่ · จำนวนวันของค้างนานตั้งเองได้ในหน้าตั้งค่า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65C199-1A94-4DE2-9106-DE9E846B3DB9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2B9F0-7912-E3E9-D843-01D28EDA7439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584820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E5F37-E3CE-FE3B-B620-092514F400EC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สิทธิ์การใช้งานตามบทบาท</a:t>
            </a:r>
            <a:endParaRPr lang="en-US" sz="32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EC7FC-BDCF-10C2-601F-8616AC359F8E}"/>
              </a:ext>
            </a:extLst>
          </p:cNvPr>
          <p:cNvSpPr txBox="1"/>
          <p:nvPr/>
        </p:nvSpPr>
        <p:spPr>
          <a:xfrm>
            <a:off x="812800" y="13462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งาน</a:t>
            </a:r>
            <a:endParaRPr lang="en-US" sz="14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7EE1F-B2A7-E548-2981-B38AF3EE637C}"/>
              </a:ext>
            </a:extLst>
          </p:cNvPr>
          <p:cNvSpPr txBox="1"/>
          <p:nvPr/>
        </p:nvSpPr>
        <p:spPr>
          <a:xfrm>
            <a:off x="6273800" y="13462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เจ้าของอู่</a:t>
            </a:r>
            <a:endParaRPr lang="en-US" sz="14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FCD28-4A29-26E2-A2BC-8DA25A4AE01A}"/>
              </a:ext>
            </a:extLst>
          </p:cNvPr>
          <p:cNvSpPr txBox="1"/>
          <p:nvPr/>
        </p:nvSpPr>
        <p:spPr>
          <a:xfrm>
            <a:off x="7975600" y="13462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พนักงาน</a:t>
            </a:r>
            <a:endParaRPr lang="en-US" sz="14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AF26D-6A60-7728-2B9D-29D5B6142519}"/>
              </a:ext>
            </a:extLst>
          </p:cNvPr>
          <p:cNvSpPr txBox="1"/>
          <p:nvPr/>
        </p:nvSpPr>
        <p:spPr>
          <a:xfrm>
            <a:off x="9677400" y="13462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ช่าง</a:t>
            </a:r>
            <a:endParaRPr lang="en-US" sz="14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8AB7C3-5D75-FB12-ABD5-44E66DDD5458}"/>
              </a:ext>
            </a:extLst>
          </p:cNvPr>
          <p:cNvCxnSpPr/>
          <p:nvPr/>
        </p:nvCxnSpPr>
        <p:spPr>
          <a:xfrm>
            <a:off x="812800" y="16637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8789388-D95F-895F-F8FB-422ECC7E4B41}"/>
              </a:ext>
            </a:extLst>
          </p:cNvPr>
          <p:cNvSpPr txBox="1"/>
          <p:nvPr/>
        </p:nvSpPr>
        <p:spPr>
          <a:xfrm>
            <a:off x="812800" y="17653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เปิดใบงาน ใส่อะไหล่ ดูประวัติรถ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E7F28D-E831-B0AA-2BEB-0A93BE846D77}"/>
              </a:ext>
            </a:extLst>
          </p:cNvPr>
          <p:cNvSpPr txBox="1"/>
          <p:nvPr/>
        </p:nvSpPr>
        <p:spPr>
          <a:xfrm>
            <a:off x="6273800" y="17653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C09DEA-FF79-C726-5F1B-CFE1809562BA}"/>
              </a:ext>
            </a:extLst>
          </p:cNvPr>
          <p:cNvSpPr txBox="1"/>
          <p:nvPr/>
        </p:nvSpPr>
        <p:spPr>
          <a:xfrm>
            <a:off x="7975600" y="17653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997CAB-7493-95C2-5D2A-1FDEE7835C52}"/>
              </a:ext>
            </a:extLst>
          </p:cNvPr>
          <p:cNvSpPr txBox="1"/>
          <p:nvPr/>
        </p:nvSpPr>
        <p:spPr>
          <a:xfrm>
            <a:off x="9677400" y="17653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0DA8A8-E14C-850A-8242-9943EE2C0E77}"/>
              </a:ext>
            </a:extLst>
          </p:cNvPr>
          <p:cNvCxnSpPr/>
          <p:nvPr/>
        </p:nvCxnSpPr>
        <p:spPr>
          <a:xfrm>
            <a:off x="812800" y="20701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E77A11F-E650-CE2F-4720-9EF9C6B7FA89}"/>
              </a:ext>
            </a:extLst>
          </p:cNvPr>
          <p:cNvSpPr txBox="1"/>
          <p:nvPr/>
        </p:nvSpPr>
        <p:spPr>
          <a:xfrm>
            <a:off x="812800" y="21717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ลูกค้าอนุมัติ ยกเลิกใบงาน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C62382-164E-E016-9089-8C40C0A05441}"/>
              </a:ext>
            </a:extLst>
          </p:cNvPr>
          <p:cNvSpPr txBox="1"/>
          <p:nvPr/>
        </p:nvSpPr>
        <p:spPr>
          <a:xfrm>
            <a:off x="6273800" y="21717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676676-4255-F1FD-F3B6-CE8213B41AF4}"/>
              </a:ext>
            </a:extLst>
          </p:cNvPr>
          <p:cNvSpPr txBox="1"/>
          <p:nvPr/>
        </p:nvSpPr>
        <p:spPr>
          <a:xfrm>
            <a:off x="7975600" y="21717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EF0905-B3FA-ED11-3B0F-7465EFD325FF}"/>
              </a:ext>
            </a:extLst>
          </p:cNvPr>
          <p:cNvSpPr txBox="1"/>
          <p:nvPr/>
        </p:nvSpPr>
        <p:spPr>
          <a:xfrm>
            <a:off x="9677400" y="21717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ไม่ได้</a:t>
            </a:r>
            <a:endParaRPr lang="en-US" sz="14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EE4455-CECF-E92A-F861-959C2451E933}"/>
              </a:ext>
            </a:extLst>
          </p:cNvPr>
          <p:cNvCxnSpPr/>
          <p:nvPr/>
        </p:nvCxnSpPr>
        <p:spPr>
          <a:xfrm>
            <a:off x="812800" y="24765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ACADC86-0317-4D68-5536-38914A80D488}"/>
              </a:ext>
            </a:extLst>
          </p:cNvPr>
          <p:cNvSpPr txBox="1"/>
          <p:nvPr/>
        </p:nvSpPr>
        <p:spPr>
          <a:xfrm>
            <a:off x="812800" y="25781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ออกบิล รับเงิน ขายหน้าร้าน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000B3F-DB6E-6078-214C-5A6F5912D42E}"/>
              </a:ext>
            </a:extLst>
          </p:cNvPr>
          <p:cNvSpPr txBox="1"/>
          <p:nvPr/>
        </p:nvSpPr>
        <p:spPr>
          <a:xfrm>
            <a:off x="6273800" y="25781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0C2999-DE83-0EF4-1BAD-A920F0E92C5B}"/>
              </a:ext>
            </a:extLst>
          </p:cNvPr>
          <p:cNvSpPr txBox="1"/>
          <p:nvPr/>
        </p:nvSpPr>
        <p:spPr>
          <a:xfrm>
            <a:off x="7975600" y="25781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23B66E-45F1-4F78-E482-3F95F98EF208}"/>
              </a:ext>
            </a:extLst>
          </p:cNvPr>
          <p:cNvSpPr txBox="1"/>
          <p:nvPr/>
        </p:nvSpPr>
        <p:spPr>
          <a:xfrm>
            <a:off x="9677400" y="25781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ไม่ได้</a:t>
            </a:r>
            <a:endParaRPr lang="en-US" sz="14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8E5527-974A-6972-E0AE-1C2C29EDA0E4}"/>
              </a:ext>
            </a:extLst>
          </p:cNvPr>
          <p:cNvCxnSpPr/>
          <p:nvPr/>
        </p:nvCxnSpPr>
        <p:spPr>
          <a:xfrm>
            <a:off x="812800" y="28829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F542A5C-A435-4B81-1792-E0C8FCF2E927}"/>
              </a:ext>
            </a:extLst>
          </p:cNvPr>
          <p:cNvSpPr txBox="1"/>
          <p:nvPr/>
        </p:nvSpPr>
        <p:spPr>
          <a:xfrm>
            <a:off x="812800" y="29845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ออกใบสั่งซื้อ ปรับลดสต็อก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FE6AC3-9DD3-1857-A47D-A63365EB23FA}"/>
              </a:ext>
            </a:extLst>
          </p:cNvPr>
          <p:cNvSpPr txBox="1"/>
          <p:nvPr/>
        </p:nvSpPr>
        <p:spPr>
          <a:xfrm>
            <a:off x="6273800" y="29845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50A4C6-0083-A53A-9FCE-369C1BEB34C1}"/>
              </a:ext>
            </a:extLst>
          </p:cNvPr>
          <p:cNvSpPr txBox="1"/>
          <p:nvPr/>
        </p:nvSpPr>
        <p:spPr>
          <a:xfrm>
            <a:off x="7975600" y="29845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9F4C94-F0A3-27F1-65AF-B298632EE8E0}"/>
              </a:ext>
            </a:extLst>
          </p:cNvPr>
          <p:cNvSpPr txBox="1"/>
          <p:nvPr/>
        </p:nvSpPr>
        <p:spPr>
          <a:xfrm>
            <a:off x="9677400" y="29845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ไม่ได้</a:t>
            </a:r>
            <a:endParaRPr lang="en-US" sz="14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46BA4A-A94A-B8DA-B898-D453022CC6CC}"/>
              </a:ext>
            </a:extLst>
          </p:cNvPr>
          <p:cNvCxnSpPr/>
          <p:nvPr/>
        </p:nvCxnSpPr>
        <p:spPr>
          <a:xfrm>
            <a:off x="812800" y="32893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3AD0F04-04A8-9F2D-3FE5-86C557F66D3D}"/>
              </a:ext>
            </a:extLst>
          </p:cNvPr>
          <p:cNvSpPr txBox="1"/>
          <p:nvPr/>
        </p:nvSpPr>
        <p:spPr>
          <a:xfrm>
            <a:off x="812800" y="33909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แก้ข้อมูลลูกค้า รถ สินค้า โทรตามเตือน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C67ED2-3FD9-DC99-7DCB-0A33AA27350B}"/>
              </a:ext>
            </a:extLst>
          </p:cNvPr>
          <p:cNvSpPr txBox="1"/>
          <p:nvPr/>
        </p:nvSpPr>
        <p:spPr>
          <a:xfrm>
            <a:off x="6273800" y="33909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9766B6-79B8-ED9C-610D-42DA3F7CEF51}"/>
              </a:ext>
            </a:extLst>
          </p:cNvPr>
          <p:cNvSpPr txBox="1"/>
          <p:nvPr/>
        </p:nvSpPr>
        <p:spPr>
          <a:xfrm>
            <a:off x="7975600" y="33909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6D1BED-51D4-95AA-5D14-4A93D2277C54}"/>
              </a:ext>
            </a:extLst>
          </p:cNvPr>
          <p:cNvSpPr txBox="1"/>
          <p:nvPr/>
        </p:nvSpPr>
        <p:spPr>
          <a:xfrm>
            <a:off x="9677400" y="33909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ไม่ได้</a:t>
            </a:r>
            <a:endParaRPr lang="en-US" sz="14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625DC0C-5A5D-30D3-2EAC-96D68BF567AB}"/>
              </a:ext>
            </a:extLst>
          </p:cNvPr>
          <p:cNvCxnSpPr/>
          <p:nvPr/>
        </p:nvCxnSpPr>
        <p:spPr>
          <a:xfrm>
            <a:off x="812800" y="36957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4C5D2FC-7470-20FB-04FE-531036DCF732}"/>
              </a:ext>
            </a:extLst>
          </p:cNvPr>
          <p:cNvSpPr txBox="1"/>
          <p:nvPr/>
        </p:nvSpPr>
        <p:spPr>
          <a:xfrm>
            <a:off x="812800" y="37973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บันทึกรับของ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11C5CA-B3A6-F008-6985-4087215DE835}"/>
              </a:ext>
            </a:extLst>
          </p:cNvPr>
          <p:cNvSpPr txBox="1"/>
          <p:nvPr/>
        </p:nvSpPr>
        <p:spPr>
          <a:xfrm>
            <a:off x="6273800" y="37973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5574C3-F00F-8415-88F0-51B0326306DB}"/>
              </a:ext>
            </a:extLst>
          </p:cNvPr>
          <p:cNvSpPr txBox="1"/>
          <p:nvPr/>
        </p:nvSpPr>
        <p:spPr>
          <a:xfrm>
            <a:off x="7975600" y="37973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DA9E8B-B240-2F4D-F3D7-215CAF505503}"/>
              </a:ext>
            </a:extLst>
          </p:cNvPr>
          <p:cNvSpPr txBox="1"/>
          <p:nvPr/>
        </p:nvSpPr>
        <p:spPr>
          <a:xfrm>
            <a:off x="9677400" y="37973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เฉพาะใบตัวเอง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D20C84C-1825-7768-CA54-A0A4C935A605}"/>
              </a:ext>
            </a:extLst>
          </p:cNvPr>
          <p:cNvCxnSpPr/>
          <p:nvPr/>
        </p:nvCxnSpPr>
        <p:spPr>
          <a:xfrm>
            <a:off x="812800" y="41021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3BADD9C-A3F8-7D79-3224-6F7B8B1E3DAA}"/>
              </a:ext>
            </a:extLst>
          </p:cNvPr>
          <p:cNvSpPr txBox="1"/>
          <p:nvPr/>
        </p:nvSpPr>
        <p:spPr>
          <a:xfrm>
            <a:off x="812800" y="42037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ปรับเพิ่มสต็อก ตั้งค่า ผู้ใช้ รายงานภาษี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39E9FF-7A5C-4ECB-0919-ACA318B0B449}"/>
              </a:ext>
            </a:extLst>
          </p:cNvPr>
          <p:cNvSpPr txBox="1"/>
          <p:nvPr/>
        </p:nvSpPr>
        <p:spPr>
          <a:xfrm>
            <a:off x="6273800" y="42037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59F7EE-F9E1-EFA0-17BE-5FAD34D0D491}"/>
              </a:ext>
            </a:extLst>
          </p:cNvPr>
          <p:cNvSpPr txBox="1"/>
          <p:nvPr/>
        </p:nvSpPr>
        <p:spPr>
          <a:xfrm>
            <a:off x="7975600" y="42037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ไม่ได้</a:t>
            </a:r>
            <a:endParaRPr lang="en-US" sz="14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1377B4-A43A-2F24-67E8-45576DE3DCB1}"/>
              </a:ext>
            </a:extLst>
          </p:cNvPr>
          <p:cNvSpPr txBox="1"/>
          <p:nvPr/>
        </p:nvSpPr>
        <p:spPr>
          <a:xfrm>
            <a:off x="9677400" y="42037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ไม่ได้</a:t>
            </a:r>
            <a:endParaRPr lang="en-US" sz="14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4EAC606-BA39-B9CD-60D8-28101538F14D}"/>
              </a:ext>
            </a:extLst>
          </p:cNvPr>
          <p:cNvCxnSpPr/>
          <p:nvPr/>
        </p:nvCxnSpPr>
        <p:spPr>
          <a:xfrm>
            <a:off x="812800" y="45085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D0D68AD-590E-D935-6129-769EF2AE813C}"/>
              </a:ext>
            </a:extLst>
          </p:cNvPr>
          <p:cNvSpPr txBox="1"/>
          <p:nvPr/>
        </p:nvSpPr>
        <p:spPr>
          <a:xfrm>
            <a:off x="812800" y="46101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400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เห็นต้นทุนและกำไร</a:t>
            </a:r>
            <a:endParaRPr lang="en-US" sz="1400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E3BACD-4442-AB99-AFB5-2342557EA99D}"/>
              </a:ext>
            </a:extLst>
          </p:cNvPr>
          <p:cNvSpPr txBox="1"/>
          <p:nvPr/>
        </p:nvSpPr>
        <p:spPr>
          <a:xfrm>
            <a:off x="6273800" y="46101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3B5BD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ได้</a:t>
            </a:r>
            <a:endParaRPr lang="en-US" sz="1400">
              <a:solidFill>
                <a:srgbClr val="3B5BD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67418B-A9B8-5580-879C-42218690B411}"/>
              </a:ext>
            </a:extLst>
          </p:cNvPr>
          <p:cNvSpPr txBox="1"/>
          <p:nvPr/>
        </p:nvSpPr>
        <p:spPr>
          <a:xfrm>
            <a:off x="7975600" y="46101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ไม่ได้</a:t>
            </a:r>
            <a:endParaRPr lang="en-US" sz="14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6C9680-36FB-7715-2C66-118325296761}"/>
              </a:ext>
            </a:extLst>
          </p:cNvPr>
          <p:cNvSpPr txBox="1"/>
          <p:nvPr/>
        </p:nvSpPr>
        <p:spPr>
          <a:xfrm>
            <a:off x="9677400" y="46101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th-TH" sz="14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ไม่ได้</a:t>
            </a:r>
            <a:endParaRPr lang="en-US" sz="14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1A83807-9967-75EC-9476-57F27DE944CF}"/>
              </a:ext>
            </a:extLst>
          </p:cNvPr>
          <p:cNvCxnSpPr/>
          <p:nvPr/>
        </p:nvCxnSpPr>
        <p:spPr>
          <a:xfrm>
            <a:off x="812800" y="4914900"/>
            <a:ext cx="10566400" cy="0"/>
          </a:xfrm>
          <a:prstGeom prst="line">
            <a:avLst/>
          </a:prstGeom>
          <a:ln w="9525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6D5429B-8B52-2A84-EEA6-C154F4969A31}"/>
              </a:ext>
            </a:extLst>
          </p:cNvPr>
          <p:cNvSpPr txBox="1"/>
          <p:nvPr/>
        </p:nvSpPr>
        <p:spPr>
          <a:xfrm>
            <a:off x="812800" y="5207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หลังบ้านเช็คสิทธิ์ทุกคำขอ และไม่ส่งต้นทุนไปถึงเครื่องของคนที่ไม่ใช่เจ้าของอู่เลย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CBEE41-1844-B7B5-8DF7-1D37C33D1B1D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1F354F-BE8C-1FC2-3F1E-7BC6D6F3A6C5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700016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265E55-3E49-0B9F-A372-E8D3CCA07393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3200" b="1">
                <a:solidFill>
                  <a:srgbClr val="1B2B4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โครงสร้างโค้ดที่ทำเสร็จแล้ว</a:t>
            </a:r>
            <a:endParaRPr lang="en-US" sz="3200" b="1">
              <a:solidFill>
                <a:srgbClr val="1B2B40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3F530F-18AF-50A0-70FF-8C966E1C58E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353312"/>
            <a:ext cx="10566400" cy="3794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8BF836-AF5C-0CC8-CE91-B178F56D3BC8}"/>
              </a:ext>
            </a:extLst>
          </p:cNvPr>
          <p:cNvSpPr txBox="1"/>
          <p:nvPr/>
        </p:nvSpPr>
        <p:spPr>
          <a:xfrm>
            <a:off x="8128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th-TH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โครงงานวิศวกรรมคอมพิวเตอร์ · ธนพนธ์ แก้วแจ่มใส</a:t>
            </a:r>
            <a:endParaRPr lang="en-US" sz="1200">
              <a:solidFill>
                <a:srgbClr val="5D6F86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4A1AE7-A1CE-3DA6-4460-68C47F323518}"/>
              </a:ext>
            </a:extLst>
          </p:cNvPr>
          <p:cNvSpPr txBox="1"/>
          <p:nvPr/>
        </p:nvSpPr>
        <p:spPr>
          <a:xfrm>
            <a:off x="8839200" y="6248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1200">
                <a:solidFill>
                  <a:srgbClr val="5D6F86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3312025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7CF9CA-43DA-6B1D-507B-FF7C895BC730}"/>
              </a:ext>
            </a:extLst>
          </p:cNvPr>
          <p:cNvSpPr txBox="1"/>
          <p:nvPr/>
        </p:nvSpPr>
        <p:spPr>
          <a:xfrm>
            <a:off x="812800" y="2667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th-TH" sz="4800" b="1">
                <a:solidFill>
                  <a:srgbClr val="F6F8FB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จบการนำเสนอ</a:t>
            </a:r>
            <a:endParaRPr lang="en-US" sz="4800" b="1">
              <a:solidFill>
                <a:srgbClr val="F6F8FB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82020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53f86ff-bbc3-4a83-bcc4-920535c0b83f}" enabled="1" method="Privileged" siteId="{dbf170fd-2115-452e-8c9d-43c7495ef30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2017</Words>
  <Application>Microsoft Office PowerPoint</Application>
  <PresentationFormat>Widescreen</PresentationFormat>
  <Paragraphs>313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Leelawadee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Thanapon Kaewjaemsai</dc:creator>
  <cp:lastModifiedBy>Thanapon Kaewjaemsai</cp:lastModifiedBy>
  <cp:revision>4</cp:revision>
  <dcterms:created xsi:type="dcterms:W3CDTF">2026-09-23T15:28:55Z</dcterms:created>
  <dcterms:modified xsi:type="dcterms:W3CDTF">2026-09-23T15:32:41Z</dcterms:modified>
</cp:coreProperties>
</file>